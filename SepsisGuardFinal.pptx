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D3B43A-D0F3-4A23-B65A-EE9F6CF08B85}">
  <a:tblStyle styleId="{00D3B43A-D0F3-4A23-B65A-EE9F6CF08B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Good morning everyone. We're presenting SepsisGuard — an AI-powered clinical decision support system for early sepsis detection in ICU patients. Our team is Sujan, Vishesh, and Asmita.</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 why sepsis? Sepsis is one of the leading causes of death in hospitals — it causes 1 in 3 hospital deaths in the US, affecting 1.7 million adults annually.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critical challenge is time. Every hour of delayed treatment increases mortality by 7%. The Surviving Sepsis Campaign recommends starting antibiotics, fluids, and blood cultures within 60 minutes of recognition — but the problem is, sepsis is hard to recognize early. Symptoms overlap with many other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Our goal was to build a system that can predict sepsis onset in ICU patients using their vital signs and lab values, and then explain the prediction using published clinical guidelines — so doctors get both a risk score and actionable recommendations.</a:t>
            </a:r>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Here's our system architecture. It has three main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First, the data pipeline — we take raw PhysioNet patient files, preprocess them by handling missing values and engineering temporal features, and produce a 30-feature matrix for each hourly ICU record.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Second, the ML models — XGBoost is our primary model using all 30 features, and Logistic Regression serves as the baseline using the same features for fair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Third, the RAG pipeline — we embedded clinical guidelines from three published sources into a ChromaDB vector database. When a patient is assessed, the system retrieves the most relevant guidelines and passes them to Google Gemini, which generates patient-specific recommendations.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Everything comes together in a Streamlit dashboard that shows the risk score, SHAP explanations of why that score was given, and evidence-based treatment recommendations.</a:t>
            </a:r>
            <a:endParaRP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used the PhysioNet Computing in Cardiology Challenge 2019 dataset. This is a real clinical dataset with 40,336 de-identified ICU patient stays — over 1.5 million hourly records.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Each record contains 8 vital signs measured hourly, 26 lab values measured when clinicians order them, and 6 demographic features.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key challenge is extreme class imbalance — only 1.8% of hourly records are labeled as sepsis. That's 2,932 sepsis patients out of 40,336 total. This means the model has to learn from very few positive examples while seeing millions of negative ones.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also found that lab values have very high missingness — some features like BUN, Glucose, and pH are 80 to 93% missing because they're only measured when ordered. This significantly influenced our feature selection.</a:t>
            </a:r>
            <a:endParaRPr/>
          </a:p>
        </p:txBody>
      </p:sp>
      <p:sp>
        <p:nvSpPr>
          <p:cNvPr id="89" name="Google Shape;8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Our preprocessing pipeline has four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First, missing value handling. For vital signs, which are recorded hourly, we use forward-fill — carrying the last known value forward. For lab values, which are sparse, we fill with the global median.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Second, feature selection. We started with 40 columns but dropped features with more than 80% missing data — BUN, Glucose, Hgb, Hct, and pH — because filling them with medians adds more noise than signal. This left us with 16 clean base features.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Third, and this was a key improvement — temporal feature engineering. For each of the 7 vital signs, we computed two additional features: the delta, which is the change from the previous hour, and the 3-hour rolling mean, which captures recent trends. This adds 14 temporal features, giving us 30 total.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was important because sepsis isn't just about absolute values — it's about deterioration patterns. A heart rate of 100 that was 80 an hour ago is very different from one that's been stable at 100. The temporal features capture this.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Finally, we used patient-level train-test splits — 80% train, 20% test — to prevent data leakage. We never allow data from the same patient to appear in both sets.</a:t>
            </a:r>
            <a:endParaRPr/>
          </a:p>
        </p:txBody>
      </p:sp>
      <p:sp>
        <p:nvSpPr>
          <p:cNvPr id="125" name="Google Shape;12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evaluated multiple models for this task.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started with Logistic Regression as our baseline — it's simple, interpretable, and gives us a reference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also considered Random Forest, but it overfit on the small initial dataset.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tried LSTM neural networks since ICU data is time-series, but with only 2,932 sepsis patients, it didn't have enough data to learn stable temporal patterns through deep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selected XGBoost as our primary model for several reasons: it handles tabular data natively, has built-in support for class imbalance through scale_pos_weight, can capture non-linear feature interactions through tree splits, and works well even with moderate dataset sizes.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fair comparison, both XGBoost and Logistic Regression use the same 30 features and the same train-test split.</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For hyperparameter tuning, we used Optuna — a Bayesian optimization framework — running 50 trials with 3-fold stratified cross-validation.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key hyperparameters tuned were: number of estimators, max depth, learning rate, scale_pos_weight for class imbalance, subsample and column sample ratios, and regularization parameters.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best configuration found by Optuna was: max depth of 5, learning rate of 0.02, and scale_pos_weight around 20. We also used early stopping — training stops automatically when the validation AUC doesn't improve for 30 consecutive rounds.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One important finding: scale_pos_weight is critical for this problem. Without it, the model would just predict 'no sepsis' for everything and get 98% accuracy — but catch zero actual sepsis cases. The class weighting forces the model to pay attention to the rare positive cases.</a:t>
            </a:r>
            <a:endParaRPr/>
          </a:p>
        </p:txBody>
      </p:sp>
      <p:sp>
        <p:nvSpPr>
          <p:cNvPr id="191" name="Google Shape;19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Here are our results on the held-out test set of about 311,000 records from 4,068 patients.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ROC curve: XGBoost achieves AUROC 0.81, significantly outperforming Logistic Regression at 0.72. Both are well above the random baseline.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PR-AUC is 0.10, which may look low, but the baseline is only 0.017 — so our model is 6 times better than random. Low PR-AUC is expected with 1.8% positive 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Confusion matrix at the optimal threshold: We correctly identify 3,736 sepsis cases out of 5,247 — that's 71% sensitivity. We do have false positives, but in clinical practice, a false alarm triggers a blood test while a missed sepsis case can be fatal. High sensitivity is intentionally prioritized.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threshold analysis shows how sensitivity and specificity trade off as we move the decision threshold. At our optimal threshold of 0.14, we get 71% sensitivity and 77% specificity. Hospitals can adjust this threshold based on their tolerance for false alarms.</a:t>
            </a:r>
            <a:endParaRPr/>
          </a:p>
        </p:txBody>
      </p:sp>
      <p:sp>
        <p:nvSpPr>
          <p:cNvPr id="221" name="Google Shape;2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4c27d0024_2_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d4c27d0024_2_0: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third component is our RAG pipeline — Retrieval Augmented Generation — which provides evidence-based treatment recommendations.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We embedded clinical guidelines from three published sources: the Surviving Sepsis Campaign 2021, the 2023 Emergency Department Sepsis Update, and the AAFP 2022 Practice Guidelines. These were chunked into 47 sections and embedded using the all-MiniLM-L6-v2 sentence transformer into a ChromaDB vector database.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a patient is assessed, the system detects their abnormal vitals — like tachycardia, hypotension, elevated lactate — and builds a semantic query. ChromaDB retrieves the 5 most relevant guideline chunks.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chunks plus the patient's data are passed to Google Gemini with a constrained prompt — the LLM can only cite the retrieved evidence, preventing hallucination of medical advice.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is a patient-specific recommendation grounded in published clinical evidence — not generic advice, but targeted guidance based on what's actually wrong with this specific patient.</a:t>
            </a:r>
            <a:endParaRPr/>
          </a:p>
        </p:txBody>
      </p:sp>
      <p:sp>
        <p:nvSpPr>
          <p:cNvPr id="303" name="Google Shape;30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Beyond the metrics, we validated the system with 6 clinical scenarios ranging from healthy adults to septic shock.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5 out of 6 scenarios were correctly classified. The one miss was a healthy adult scored as MODERATE at 17.7% — borderline, and the model errs on the side of caution, which is clinically appropriate in an ICU where it's better to over-monitor than to miss early sepsis.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correctly identified: stable post-surgical patients as LOW risk, early sepsis with tachycardia and fever as MODERATE, and both septic shock and atypical hypothermic sepsis as HIGH risk.</a:t>
            </a:r>
            <a:endParaRPr/>
          </a:p>
        </p:txBody>
      </p:sp>
      <p:sp>
        <p:nvSpPr>
          <p:cNvPr id="338" name="Google Shape;33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Let me show you the system in action. Open http://localhost:8501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Demo 1 — Normal patient (30 sec): Default values — HR 85, SpO2 97, normal temp, normal MAP. Click Assess. The system correctly identifies low risk. No vital sign flags. Recommendations suggest continued monitoring.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Demo 2 — High risk patient (1.5 min): Enter HR 130, SpO2 86, Temp 39.5, SBP 80, DBP 40, MAP 50, Resp 32, Age 72, Lactate 5.0, WBC 22, Creatinine 3.0, ICULOS 72. Click Assess. Risk score is HIGH — SHAP explains why: ICULOS, temperature, and lactate are the biggest contributors. Vital sign flags catch tachycardia, hypoxemia, hypotension, tachypnea, elevated lactate, leukocytosis, and renal concern. RAG pulls from SSC 2021 and recommends norepinephrine, crystalloid fluids, and lactate-guided resuscitation.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Demo 3 — Borderline patient (1 min): HR 100, SpO2 94, Temp 38.5, MAP 68, Resp 22, Age 65, Lactate 2.5, WBC 14, ICULOS 48. A borderline case — moderate risk. System flags tachycardia and tachypnea but recommendations are more cautious.</a:t>
            </a:r>
            <a:endParaRPr/>
          </a:p>
        </p:txBody>
      </p:sp>
      <p:sp>
        <p:nvSpPr>
          <p:cNvPr id="391" name="Google Shape;39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To summarize our key findings: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First, XGBoost with 30 features achieves AUROC 0.81, exceeding the 0.75 clinical utility threshold established by the PhysioNet Challenge.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Second, temporal features significantly improve prediction — the deltas and rolling means we engineered contribute to the top features by importance.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Third, dropping ultra-sparse features with over 80% missing data improved performance by reducing noise.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Fourth, the RAG pipeline grounds all recommendations in published clinical evidence — SSC 2021, 2023 ED Update, and AAFP 2022.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And fifth, SHAP provides per-patient explanations that make the system transparent and trustworthy for clinical use.</a:t>
            </a:r>
            <a:endParaRPr/>
          </a:p>
        </p:txBody>
      </p:sp>
      <p:sp>
        <p:nvSpPr>
          <p:cNvPr id="412" name="Google Shape;41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Some limitations to acknowledge: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was trained on a single dataset — PhysioNet 2019. Real-world deployment would require validation on data from other hospitals.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dashboard uses single-timepoint input, so temporal features default to zero. In a real ICU integration, we'd connect to continuous patient monitors for real temporal data.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PR-AUC is low at 0.10 due to extreme class imbalance — a known challenge in clinical sepsis prediction.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future work: integrating with hospital EHR systems for real-time continuous monitoring, expanding the RAG knowledge base with more clinical literature, adding patient history tracking over time, and validating on external datasets from different institutions.</a:t>
            </a:r>
            <a:endParaRPr/>
          </a:p>
        </p:txBody>
      </p:sp>
      <p:sp>
        <p:nvSpPr>
          <p:cNvPr id="440" name="Google Shape;44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That concludes our presentation. The code is available on GitHub. We're happy to take any questions, and we can demo any specific scenario you'd like to see.</a:t>
            </a:r>
            <a:endParaRPr/>
          </a:p>
        </p:txBody>
      </p:sp>
      <p:sp>
        <p:nvSpPr>
          <p:cNvPr id="456" name="Google Shape;45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7" name="Google Shape;47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11" name="Shape 11"/>
        <p:cNvGrpSpPr/>
        <p:nvPr/>
      </p:nvGrpSpPr>
      <p:grpSpPr>
        <a:xfrm>
          <a:off x="0" y="0"/>
          <a:ext cx="0" cy="0"/>
          <a:chOff x="0" y="0"/>
          <a:chExt cx="0" cy="0"/>
        </a:xfrm>
      </p:grpSpPr>
      <p:sp>
        <p:nvSpPr>
          <p:cNvPr id="12" name="Google Shape;12;p3"/>
          <p:cNvSpPr/>
          <p:nvPr/>
        </p:nvSpPr>
        <p:spPr>
          <a:xfrm>
            <a:off x="0" y="0"/>
            <a:ext cx="201168"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7132320" y="-731520"/>
            <a:ext cx="3200400" cy="3200400"/>
          </a:xfrm>
          <a:prstGeom prst="ellipse">
            <a:avLst/>
          </a:prstGeom>
          <a:solidFill>
            <a:srgbClr val="028090">
              <a:alpha val="20000"/>
            </a:srgbClr>
          </a:solidFill>
          <a:ln cap="flat" cmpd="sng" w="12700">
            <a:solidFill>
              <a:srgbClr val="02809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p:nvPr/>
        </p:nvSpPr>
        <p:spPr>
          <a:xfrm>
            <a:off x="7680960" y="-182880"/>
            <a:ext cx="2011680" cy="2011680"/>
          </a:xfrm>
          <a:prstGeom prst="ellipse">
            <a:avLst/>
          </a:prstGeom>
          <a:solidFill>
            <a:srgbClr val="02C39A">
              <a:alpha val="30196"/>
            </a:srgbClr>
          </a:solidFill>
          <a:ln cap="flat" cmpd="sng" w="12700">
            <a:solidFill>
              <a:srgbClr val="02C39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7772400" y="3840480"/>
            <a:ext cx="2286000" cy="2286000"/>
          </a:xfrm>
          <a:prstGeom prst="ellipse">
            <a:avLst/>
          </a:prstGeom>
          <a:solidFill>
            <a:srgbClr val="028090">
              <a:alpha val="25098"/>
            </a:srgbClr>
          </a:solidFill>
          <a:ln cap="flat" cmpd="sng" w="12700">
            <a:solidFill>
              <a:srgbClr val="02809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502920" y="457200"/>
            <a:ext cx="1828800" cy="347472"/>
          </a:xfrm>
          <a:prstGeom prst="roundRect">
            <a:avLst>
              <a:gd fmla="val 13158"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02920" y="457200"/>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900"/>
              <a:buFont typeface="Calibri"/>
              <a:buNone/>
            </a:pPr>
            <a:r>
              <a:rPr b="1" i="0" lang="en-US" sz="900" u="none" cap="none" strike="noStrike">
                <a:solidFill>
                  <a:srgbClr val="0A2342"/>
                </a:solidFill>
                <a:latin typeface="Calibri"/>
                <a:ea typeface="Calibri"/>
                <a:cs typeface="Calibri"/>
                <a:sym typeface="Calibri"/>
              </a:rPr>
              <a:t>CAPSTONE PROJECT</a:t>
            </a:r>
            <a:endParaRPr b="0" i="0" sz="900" u="none" cap="none" strike="noStrike">
              <a:solidFill>
                <a:schemeClr val="dk1"/>
              </a:solidFill>
              <a:latin typeface="Calibri"/>
              <a:ea typeface="Calibri"/>
              <a:cs typeface="Calibri"/>
              <a:sym typeface="Calibri"/>
            </a:endParaRPr>
          </a:p>
        </p:txBody>
      </p:sp>
      <p:sp>
        <p:nvSpPr>
          <p:cNvPr id="18" name="Google Shape;18;p3"/>
          <p:cNvSpPr/>
          <p:nvPr/>
        </p:nvSpPr>
        <p:spPr>
          <a:xfrm>
            <a:off x="502920" y="1051560"/>
            <a:ext cx="8046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i="0" lang="en-US" sz="5400" cap="none" strike="noStrike">
                <a:solidFill>
                  <a:srgbClr val="FFFFFF"/>
                </a:solidFill>
                <a:latin typeface="Calibri"/>
                <a:ea typeface="Calibri"/>
                <a:cs typeface="Calibri"/>
                <a:sym typeface="Calibri"/>
              </a:rPr>
              <a:t>SepsisGuard</a:t>
            </a:r>
            <a:endParaRPr b="0" i="0" sz="5400" cap="none" strike="noStrike">
              <a:solidFill>
                <a:schemeClr val="dk1"/>
              </a:solidFill>
              <a:latin typeface="Calibri"/>
              <a:ea typeface="Calibri"/>
              <a:cs typeface="Calibri"/>
              <a:sym typeface="Calibri"/>
            </a:endParaRPr>
          </a:p>
        </p:txBody>
      </p:sp>
      <p:sp>
        <p:nvSpPr>
          <p:cNvPr id="19" name="Google Shape;19;p3"/>
          <p:cNvSpPr/>
          <p:nvPr/>
        </p:nvSpPr>
        <p:spPr>
          <a:xfrm>
            <a:off x="502920" y="210312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200"/>
              <a:buFont typeface="Calibri"/>
              <a:buNone/>
            </a:pPr>
            <a:r>
              <a:rPr b="0" i="0" lang="en-US" sz="2200" u="none" cap="none" strike="noStrike">
                <a:solidFill>
                  <a:srgbClr val="02C39A"/>
                </a:solidFill>
                <a:latin typeface="Calibri"/>
                <a:ea typeface="Calibri"/>
                <a:cs typeface="Calibri"/>
                <a:sym typeface="Calibri"/>
              </a:rPr>
              <a:t>Clinical Decision Support System</a:t>
            </a:r>
            <a:endParaRPr b="0" i="0" sz="2200" u="none" cap="none" strike="noStrike">
              <a:solidFill>
                <a:schemeClr val="dk1"/>
              </a:solidFill>
              <a:latin typeface="Calibri"/>
              <a:ea typeface="Calibri"/>
              <a:cs typeface="Calibri"/>
              <a:sym typeface="Calibri"/>
            </a:endParaRPr>
          </a:p>
        </p:txBody>
      </p:sp>
      <p:sp>
        <p:nvSpPr>
          <p:cNvPr id="20" name="Google Shape;20;p3"/>
          <p:cNvSpPr/>
          <p:nvPr/>
        </p:nvSpPr>
        <p:spPr>
          <a:xfrm>
            <a:off x="502920" y="2697480"/>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B8D0"/>
              </a:buClr>
              <a:buSzPts val="1400"/>
              <a:buFont typeface="Calibri"/>
              <a:buNone/>
            </a:pPr>
            <a:r>
              <a:rPr b="0" i="1" lang="en-US" sz="1400" u="none" cap="none" strike="noStrike">
                <a:solidFill>
                  <a:srgbClr val="8BB8D0"/>
                </a:solidFill>
                <a:latin typeface="Calibri"/>
                <a:ea typeface="Calibri"/>
                <a:cs typeface="Calibri"/>
                <a:sym typeface="Calibri"/>
              </a:rPr>
              <a:t>AI-powered early sepsis detection with explainable recommendations</a:t>
            </a:r>
            <a:endParaRPr b="0" i="0" sz="1400" u="none" cap="none" strike="noStrike">
              <a:solidFill>
                <a:schemeClr val="dk1"/>
              </a:solidFill>
              <a:latin typeface="Calibri"/>
              <a:ea typeface="Calibri"/>
              <a:cs typeface="Calibri"/>
              <a:sym typeface="Calibri"/>
            </a:endParaRPr>
          </a:p>
        </p:txBody>
      </p:sp>
      <p:sp>
        <p:nvSpPr>
          <p:cNvPr id="21" name="Google Shape;21;p3"/>
          <p:cNvSpPr/>
          <p:nvPr/>
        </p:nvSpPr>
        <p:spPr>
          <a:xfrm>
            <a:off x="502920" y="3246120"/>
            <a:ext cx="4114800" cy="274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502920" y="34290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B8D0"/>
              </a:buClr>
              <a:buSzPts val="1200"/>
              <a:buFont typeface="Calibri"/>
              <a:buNone/>
            </a:pPr>
            <a:r>
              <a:rPr b="0" i="0" lang="en-US" sz="1200" u="none" cap="none" strike="noStrike">
                <a:solidFill>
                  <a:srgbClr val="8BB8D0"/>
                </a:solidFill>
                <a:latin typeface="Calibri"/>
                <a:ea typeface="Calibri"/>
                <a:cs typeface="Calibri"/>
                <a:sym typeface="Calibri"/>
              </a:rPr>
              <a:t>Sujan Dhandapani Murali Balakrishnan  ·  Vishesh Bharuka  ·  Asmita Chetlapalli</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502920" y="4343400"/>
            <a:ext cx="1920240" cy="365760"/>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502920" y="4343400"/>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b="0" i="0" lang="en-US" sz="1000" u="none" cap="none" strike="noStrike">
                <a:solidFill>
                  <a:srgbClr val="02C39A"/>
                </a:solidFill>
                <a:latin typeface="Calibri"/>
                <a:ea typeface="Calibri"/>
                <a:cs typeface="Calibri"/>
                <a:sym typeface="Calibri"/>
              </a:rPr>
              <a:t>XGBoost</a:t>
            </a:r>
            <a:endParaRPr b="0" i="0" sz="1000" u="none" cap="none" strike="noStrike">
              <a:solidFill>
                <a:schemeClr val="dk1"/>
              </a:solidFill>
              <a:latin typeface="Calibri"/>
              <a:ea typeface="Calibri"/>
              <a:cs typeface="Calibri"/>
              <a:sym typeface="Calibri"/>
            </a:endParaRPr>
          </a:p>
        </p:txBody>
      </p:sp>
      <p:sp>
        <p:nvSpPr>
          <p:cNvPr id="25" name="Google Shape;25;p3"/>
          <p:cNvSpPr/>
          <p:nvPr/>
        </p:nvSpPr>
        <p:spPr>
          <a:xfrm>
            <a:off x="2606040" y="4343400"/>
            <a:ext cx="1920240" cy="365760"/>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2606040" y="4343400"/>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b="0" i="0" lang="en-US" sz="1000" u="none" cap="none" strike="noStrike">
                <a:solidFill>
                  <a:srgbClr val="02C39A"/>
                </a:solidFill>
                <a:latin typeface="Calibri"/>
                <a:ea typeface="Calibri"/>
                <a:cs typeface="Calibri"/>
                <a:sym typeface="Calibri"/>
              </a:rPr>
              <a:t>SHAP Explainability</a:t>
            </a:r>
            <a:endParaRPr b="0" i="0" sz="1000" u="none" cap="none" strike="noStrike">
              <a:solidFill>
                <a:schemeClr val="dk1"/>
              </a:solidFill>
              <a:latin typeface="Calibri"/>
              <a:ea typeface="Calibri"/>
              <a:cs typeface="Calibri"/>
              <a:sym typeface="Calibri"/>
            </a:endParaRPr>
          </a:p>
        </p:txBody>
      </p:sp>
      <p:sp>
        <p:nvSpPr>
          <p:cNvPr id="27" name="Google Shape;27;p3"/>
          <p:cNvSpPr/>
          <p:nvPr/>
        </p:nvSpPr>
        <p:spPr>
          <a:xfrm>
            <a:off x="4709160" y="4343400"/>
            <a:ext cx="1920240" cy="365760"/>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09160" y="4343400"/>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b="0" i="0" lang="en-US" sz="1000" u="none" cap="none" strike="noStrike">
                <a:solidFill>
                  <a:srgbClr val="02C39A"/>
                </a:solidFill>
                <a:latin typeface="Calibri"/>
                <a:ea typeface="Calibri"/>
                <a:cs typeface="Calibri"/>
                <a:sym typeface="Calibri"/>
              </a:rPr>
              <a:t>RAG Guidelines</a:t>
            </a:r>
            <a:endParaRPr b="0" i="0" sz="1000" u="none" cap="none" strike="noStrike">
              <a:solidFill>
                <a:schemeClr val="dk1"/>
              </a:solidFill>
              <a:latin typeface="Calibri"/>
              <a:ea typeface="Calibri"/>
              <a:cs typeface="Calibri"/>
              <a:sym typeface="Calibri"/>
            </a:endParaRPr>
          </a:p>
        </p:txBody>
      </p:sp>
      <p:sp>
        <p:nvSpPr>
          <p:cNvPr id="29" name="Google Shape;29;p3"/>
          <p:cNvSpPr/>
          <p:nvPr/>
        </p:nvSpPr>
        <p:spPr>
          <a:xfrm>
            <a:off x="6812280" y="4343400"/>
            <a:ext cx="1920240" cy="365760"/>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812280" y="4343400"/>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b="0" i="0" lang="en-US" sz="1000" u="none" cap="none" strike="noStrike">
                <a:solidFill>
                  <a:srgbClr val="02C39A"/>
                </a:solidFill>
                <a:latin typeface="Calibri"/>
                <a:ea typeface="Calibri"/>
                <a:cs typeface="Calibri"/>
                <a:sym typeface="Calibri"/>
              </a:rPr>
              <a:t>Streamlit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5" name="Shape 35"/>
        <p:cNvGrpSpPr/>
        <p:nvPr/>
      </p:nvGrpSpPr>
      <p:grpSpPr>
        <a:xfrm>
          <a:off x="0" y="0"/>
          <a:ext cx="0" cy="0"/>
          <a:chOff x="0" y="0"/>
          <a:chExt cx="0" cy="0"/>
        </a:xfrm>
      </p:grpSpPr>
      <p:sp>
        <p:nvSpPr>
          <p:cNvPr id="36" name="Google Shape;36;p4"/>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Why does early sepsis detection matter?</a:t>
            </a:r>
            <a:endParaRPr sz="2200">
              <a:solidFill>
                <a:schemeClr val="dk1"/>
              </a:solidFill>
              <a:latin typeface="Calibri"/>
              <a:ea typeface="Calibri"/>
              <a:cs typeface="Calibri"/>
              <a:sym typeface="Calibri"/>
            </a:endParaRPr>
          </a:p>
        </p:txBody>
      </p:sp>
      <p:sp>
        <p:nvSpPr>
          <p:cNvPr id="39" name="Google Shape;39;p4"/>
          <p:cNvSpPr/>
          <p:nvPr/>
        </p:nvSpPr>
        <p:spPr>
          <a:xfrm>
            <a:off x="365760" y="868680"/>
            <a:ext cx="2697480" cy="1115568"/>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65760" y="868680"/>
            <a:ext cx="73152" cy="111556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53035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lang="en-US" sz="2800">
                <a:solidFill>
                  <a:srgbClr val="02C39A"/>
                </a:solidFill>
                <a:latin typeface="Calibri"/>
                <a:ea typeface="Calibri"/>
                <a:cs typeface="Calibri"/>
                <a:sym typeface="Calibri"/>
              </a:rPr>
              <a:t>1 in 3</a:t>
            </a:r>
            <a:endParaRPr sz="2800">
              <a:solidFill>
                <a:schemeClr val="dk1"/>
              </a:solidFill>
              <a:latin typeface="Calibri"/>
              <a:ea typeface="Calibri"/>
              <a:cs typeface="Calibri"/>
              <a:sym typeface="Calibri"/>
            </a:endParaRPr>
          </a:p>
        </p:txBody>
      </p:sp>
      <p:sp>
        <p:nvSpPr>
          <p:cNvPr id="42" name="Google Shape;42;p4"/>
          <p:cNvSpPr/>
          <p:nvPr/>
        </p:nvSpPr>
        <p:spPr>
          <a:xfrm>
            <a:off x="53035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US hospital deaths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caused by sepsis</a:t>
            </a:r>
            <a:endParaRPr sz="1050">
              <a:solidFill>
                <a:schemeClr val="dk1"/>
              </a:solidFill>
              <a:latin typeface="Calibri"/>
              <a:ea typeface="Calibri"/>
              <a:cs typeface="Calibri"/>
              <a:sym typeface="Calibri"/>
            </a:endParaRPr>
          </a:p>
        </p:txBody>
      </p:sp>
      <p:sp>
        <p:nvSpPr>
          <p:cNvPr id="43" name="Google Shape;43;p4"/>
          <p:cNvSpPr/>
          <p:nvPr/>
        </p:nvSpPr>
        <p:spPr>
          <a:xfrm>
            <a:off x="3246120" y="868680"/>
            <a:ext cx="2697480" cy="1115568"/>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3246120" y="868680"/>
            <a:ext cx="73152" cy="111556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341071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1.7M</a:t>
            </a:r>
            <a:endParaRPr sz="2600">
              <a:solidFill>
                <a:schemeClr val="dk1"/>
              </a:solidFill>
              <a:latin typeface="Calibri"/>
              <a:ea typeface="Calibri"/>
              <a:cs typeface="Calibri"/>
              <a:sym typeface="Calibri"/>
            </a:endParaRPr>
          </a:p>
        </p:txBody>
      </p:sp>
      <p:sp>
        <p:nvSpPr>
          <p:cNvPr id="46" name="Google Shape;46;p4"/>
          <p:cNvSpPr/>
          <p:nvPr/>
        </p:nvSpPr>
        <p:spPr>
          <a:xfrm>
            <a:off x="341071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US adults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affected annually</a:t>
            </a:r>
            <a:endParaRPr sz="1050">
              <a:solidFill>
                <a:schemeClr val="dk1"/>
              </a:solidFill>
              <a:latin typeface="Calibri"/>
              <a:ea typeface="Calibri"/>
              <a:cs typeface="Calibri"/>
              <a:sym typeface="Calibri"/>
            </a:endParaRPr>
          </a:p>
        </p:txBody>
      </p:sp>
      <p:sp>
        <p:nvSpPr>
          <p:cNvPr id="47" name="Google Shape;47;p4"/>
          <p:cNvSpPr/>
          <p:nvPr/>
        </p:nvSpPr>
        <p:spPr>
          <a:xfrm>
            <a:off x="6126480" y="868680"/>
            <a:ext cx="2697480" cy="1115568"/>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6126480" y="868680"/>
            <a:ext cx="73152" cy="111556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629107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+7%</a:t>
            </a:r>
            <a:endParaRPr sz="2600">
              <a:solidFill>
                <a:schemeClr val="dk1"/>
              </a:solidFill>
              <a:latin typeface="Calibri"/>
              <a:ea typeface="Calibri"/>
              <a:cs typeface="Calibri"/>
              <a:sym typeface="Calibri"/>
            </a:endParaRPr>
          </a:p>
        </p:txBody>
      </p:sp>
      <p:sp>
        <p:nvSpPr>
          <p:cNvPr id="50" name="Google Shape;50;p4"/>
          <p:cNvSpPr/>
          <p:nvPr/>
        </p:nvSpPr>
        <p:spPr>
          <a:xfrm>
            <a:off x="629107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Mortality per hour</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of delayed treatment</a:t>
            </a:r>
            <a:endParaRPr sz="1050">
              <a:solidFill>
                <a:schemeClr val="dk1"/>
              </a:solidFill>
              <a:latin typeface="Calibri"/>
              <a:ea typeface="Calibri"/>
              <a:cs typeface="Calibri"/>
              <a:sym typeface="Calibri"/>
            </a:endParaRPr>
          </a:p>
        </p:txBody>
      </p:sp>
      <p:sp>
        <p:nvSpPr>
          <p:cNvPr id="51" name="Google Shape;51;p4"/>
          <p:cNvSpPr/>
          <p:nvPr/>
        </p:nvSpPr>
        <p:spPr>
          <a:xfrm>
            <a:off x="457200" y="2176272"/>
            <a:ext cx="8229600" cy="21031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Sepsis causes 1 in 3 hospital deaths in the US - 1.7 million adults affected annually</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Every hour of delayed treatment increases mortality by 7%</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Surviving Sepsis Campaign: antibiotics, fluids, and blood cultures within 60 minutes of recognition</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Sepsis is hard to recognize early - symptoms overlap with many other conditions</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Goal: predict sepsis onset using vital signs and lab values, then explain using published clinical guidelines</a:t>
            </a:r>
            <a:endParaRPr sz="1300">
              <a:solidFill>
                <a:schemeClr val="dk1"/>
              </a:solidFill>
              <a:latin typeface="Calibri"/>
              <a:ea typeface="Calibri"/>
              <a:cs typeface="Calibri"/>
              <a:sym typeface="Calibri"/>
            </a:endParaRPr>
          </a:p>
        </p:txBody>
      </p:sp>
      <p:sp>
        <p:nvSpPr>
          <p:cNvPr id="52" name="Google Shape;52;p4"/>
          <p:cNvSpPr/>
          <p:nvPr/>
        </p:nvSpPr>
        <p:spPr>
          <a:xfrm>
            <a:off x="320040" y="4553712"/>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320040" y="4553712"/>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02920" y="455371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  A system that gives both a risk score AND actionable guideline-based recommendations</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9" name="Shape 59"/>
        <p:cNvGrpSpPr/>
        <p:nvPr/>
      </p:nvGrpSpPr>
      <p:grpSpPr>
        <a:xfrm>
          <a:off x="0" y="0"/>
          <a:ext cx="0" cy="0"/>
          <a:chOff x="0" y="0"/>
          <a:chExt cx="0" cy="0"/>
        </a:xfrm>
      </p:grpSpPr>
      <p:sp>
        <p:nvSpPr>
          <p:cNvPr id="60" name="Google Shape;60;p5"/>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Three-component system</a:t>
            </a:r>
            <a:endParaRPr sz="2200">
              <a:solidFill>
                <a:schemeClr val="dk1"/>
              </a:solidFill>
              <a:latin typeface="Calibri"/>
              <a:ea typeface="Calibri"/>
              <a:cs typeface="Calibri"/>
              <a:sym typeface="Calibri"/>
            </a:endParaRPr>
          </a:p>
        </p:txBody>
      </p:sp>
      <p:sp>
        <p:nvSpPr>
          <p:cNvPr id="63" name="Google Shape;63;p5"/>
          <p:cNvSpPr/>
          <p:nvPr/>
        </p:nvSpPr>
        <p:spPr>
          <a:xfrm>
            <a:off x="274320" y="868680"/>
            <a:ext cx="2834640" cy="35204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274320" y="868680"/>
            <a:ext cx="2834640" cy="43891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384048" y="868680"/>
            <a:ext cx="261518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Data Pipeline</a:t>
            </a:r>
            <a:endParaRPr sz="1400">
              <a:solidFill>
                <a:schemeClr val="dk1"/>
              </a:solidFill>
              <a:latin typeface="Calibri"/>
              <a:ea typeface="Calibri"/>
              <a:cs typeface="Calibri"/>
              <a:sym typeface="Calibri"/>
            </a:endParaRPr>
          </a:p>
        </p:txBody>
      </p:sp>
      <p:sp>
        <p:nvSpPr>
          <p:cNvPr id="66" name="Google Shape;66;p5"/>
          <p:cNvSpPr/>
          <p:nvPr/>
        </p:nvSpPr>
        <p:spPr>
          <a:xfrm>
            <a:off x="384048" y="1399032"/>
            <a:ext cx="2615184" cy="23774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Raw PhysioNet .psv files → preprocessing</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Handle missing values &amp; engineer temporal features</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30-feature matrix per hourly ICU record</a:t>
            </a:r>
            <a:endParaRPr sz="1200">
              <a:solidFill>
                <a:schemeClr val="dk1"/>
              </a:solidFill>
              <a:latin typeface="Calibri"/>
              <a:ea typeface="Calibri"/>
              <a:cs typeface="Calibri"/>
              <a:sym typeface="Calibri"/>
            </a:endParaRPr>
          </a:p>
        </p:txBody>
      </p:sp>
      <p:sp>
        <p:nvSpPr>
          <p:cNvPr id="67" name="Google Shape;67;p5"/>
          <p:cNvSpPr/>
          <p:nvPr/>
        </p:nvSpPr>
        <p:spPr>
          <a:xfrm>
            <a:off x="411480" y="4078224"/>
            <a:ext cx="2560320" cy="27432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411480" y="4078224"/>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30 Features</a:t>
            </a:r>
            <a:endParaRPr sz="1200">
              <a:solidFill>
                <a:schemeClr val="dk1"/>
              </a:solidFill>
              <a:latin typeface="Calibri"/>
              <a:ea typeface="Calibri"/>
              <a:cs typeface="Calibri"/>
              <a:sym typeface="Calibri"/>
            </a:endParaRPr>
          </a:p>
        </p:txBody>
      </p:sp>
      <p:sp>
        <p:nvSpPr>
          <p:cNvPr id="69" name="Google Shape;69;p5"/>
          <p:cNvSpPr/>
          <p:nvPr/>
        </p:nvSpPr>
        <p:spPr>
          <a:xfrm>
            <a:off x="3218688" y="868680"/>
            <a:ext cx="2834640" cy="35204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3218688" y="868680"/>
            <a:ext cx="2834640" cy="438912"/>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3328416" y="868680"/>
            <a:ext cx="261518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ML Models</a:t>
            </a:r>
            <a:endParaRPr sz="1400">
              <a:solidFill>
                <a:schemeClr val="dk1"/>
              </a:solidFill>
              <a:latin typeface="Calibri"/>
              <a:ea typeface="Calibri"/>
              <a:cs typeface="Calibri"/>
              <a:sym typeface="Calibri"/>
            </a:endParaRPr>
          </a:p>
        </p:txBody>
      </p:sp>
      <p:sp>
        <p:nvSpPr>
          <p:cNvPr id="72" name="Google Shape;72;p5"/>
          <p:cNvSpPr/>
          <p:nvPr/>
        </p:nvSpPr>
        <p:spPr>
          <a:xfrm>
            <a:off x="3328416" y="1399032"/>
            <a:ext cx="2615184" cy="23774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XGBoost (primary) - 30 features, Optuna-tuned</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Logistic Regression - baseline comparison</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Same features &amp; splits for fair evaluation</a:t>
            </a:r>
            <a:endParaRPr sz="1200">
              <a:solidFill>
                <a:schemeClr val="dk1"/>
              </a:solidFill>
              <a:latin typeface="Calibri"/>
              <a:ea typeface="Calibri"/>
              <a:cs typeface="Calibri"/>
              <a:sym typeface="Calibri"/>
            </a:endParaRPr>
          </a:p>
        </p:txBody>
      </p:sp>
      <p:sp>
        <p:nvSpPr>
          <p:cNvPr id="73" name="Google Shape;73;p5"/>
          <p:cNvSpPr/>
          <p:nvPr/>
        </p:nvSpPr>
        <p:spPr>
          <a:xfrm>
            <a:off x="3355848" y="4078224"/>
            <a:ext cx="2560320" cy="274320"/>
          </a:xfrm>
          <a:prstGeom prst="rect">
            <a:avLst/>
          </a:prstGeom>
          <a:solidFill>
            <a:srgbClr val="9C4DCC"/>
          </a:solidFill>
          <a:ln cap="flat" cmpd="sng" w="12700">
            <a:solidFill>
              <a:srgbClr val="9C4D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3355848" y="4078224"/>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AUROC = 0.81</a:t>
            </a:r>
            <a:endParaRPr sz="1200">
              <a:solidFill>
                <a:schemeClr val="dk1"/>
              </a:solidFill>
              <a:latin typeface="Calibri"/>
              <a:ea typeface="Calibri"/>
              <a:cs typeface="Calibri"/>
              <a:sym typeface="Calibri"/>
            </a:endParaRPr>
          </a:p>
        </p:txBody>
      </p:sp>
      <p:sp>
        <p:nvSpPr>
          <p:cNvPr id="75" name="Google Shape;75;p5"/>
          <p:cNvSpPr/>
          <p:nvPr/>
        </p:nvSpPr>
        <p:spPr>
          <a:xfrm>
            <a:off x="6163056" y="868680"/>
            <a:ext cx="2834640" cy="35204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6163056" y="868680"/>
            <a:ext cx="2834640" cy="438912"/>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272784" y="868680"/>
            <a:ext cx="261518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RAG Pipeline</a:t>
            </a:r>
            <a:endParaRPr sz="1400">
              <a:solidFill>
                <a:schemeClr val="dk1"/>
              </a:solidFill>
              <a:latin typeface="Calibri"/>
              <a:ea typeface="Calibri"/>
              <a:cs typeface="Calibri"/>
              <a:sym typeface="Calibri"/>
            </a:endParaRPr>
          </a:p>
        </p:txBody>
      </p:sp>
      <p:sp>
        <p:nvSpPr>
          <p:cNvPr id="78" name="Google Shape;78;p5"/>
          <p:cNvSpPr/>
          <p:nvPr/>
        </p:nvSpPr>
        <p:spPr>
          <a:xfrm>
            <a:off x="6272784" y="1399032"/>
            <a:ext cx="2615184" cy="23774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SSC 2021, 2023 ED, AAFP 2022 → ChromaDB</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Retrieves relevant guideline chunks per patient</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00"/>
              <a:buFont typeface="Calibri"/>
              <a:buChar char="•"/>
            </a:pPr>
            <a:r>
              <a:rPr lang="en-US" sz="1200">
                <a:solidFill>
                  <a:srgbClr val="0A2342"/>
                </a:solidFill>
                <a:latin typeface="Calibri"/>
                <a:ea typeface="Calibri"/>
                <a:cs typeface="Calibri"/>
                <a:sym typeface="Calibri"/>
              </a:rPr>
              <a:t>Gemini generates grounded recommendations</a:t>
            </a:r>
            <a:endParaRPr sz="1200">
              <a:solidFill>
                <a:schemeClr val="dk1"/>
              </a:solidFill>
              <a:latin typeface="Calibri"/>
              <a:ea typeface="Calibri"/>
              <a:cs typeface="Calibri"/>
              <a:sym typeface="Calibri"/>
            </a:endParaRPr>
          </a:p>
        </p:txBody>
      </p:sp>
      <p:sp>
        <p:nvSpPr>
          <p:cNvPr id="79" name="Google Shape;79;p5"/>
          <p:cNvSpPr/>
          <p:nvPr/>
        </p:nvSpPr>
        <p:spPr>
          <a:xfrm>
            <a:off x="6300216" y="4078224"/>
            <a:ext cx="2560320" cy="274320"/>
          </a:xfrm>
          <a:prstGeom prst="rect">
            <a:avLst/>
          </a:prstGeom>
          <a:solidFill>
            <a:srgbClr val="E07060"/>
          </a:solidFill>
          <a:ln cap="flat" cmpd="sng" w="12700">
            <a:solidFill>
              <a:srgbClr val="E07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6300216" y="4078224"/>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Evidence-based</a:t>
            </a:r>
            <a:endParaRPr sz="1200">
              <a:solidFill>
                <a:schemeClr val="dk1"/>
              </a:solidFill>
              <a:latin typeface="Calibri"/>
              <a:ea typeface="Calibri"/>
              <a:cs typeface="Calibri"/>
              <a:sym typeface="Calibri"/>
            </a:endParaRPr>
          </a:p>
        </p:txBody>
      </p:sp>
      <p:sp>
        <p:nvSpPr>
          <p:cNvPr id="81" name="Google Shape;81;p5"/>
          <p:cNvSpPr/>
          <p:nvPr/>
        </p:nvSpPr>
        <p:spPr>
          <a:xfrm>
            <a:off x="3090672" y="2468880"/>
            <a:ext cx="228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800"/>
              <a:buFont typeface="Calibri"/>
              <a:buNone/>
            </a:pPr>
            <a:r>
              <a:rPr b="1" lang="en-US" sz="1800">
                <a:solidFill>
                  <a:srgbClr val="02C39A"/>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82" name="Google Shape;82;p5"/>
          <p:cNvSpPr/>
          <p:nvPr/>
        </p:nvSpPr>
        <p:spPr>
          <a:xfrm>
            <a:off x="6035040" y="2468880"/>
            <a:ext cx="228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800"/>
              <a:buFont typeface="Calibri"/>
              <a:buNone/>
            </a:pPr>
            <a:r>
              <a:rPr b="1" lang="en-US" sz="1800">
                <a:solidFill>
                  <a:srgbClr val="02C39A"/>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83" name="Google Shape;83;p5"/>
          <p:cNvSpPr/>
          <p:nvPr/>
        </p:nvSpPr>
        <p:spPr>
          <a:xfrm>
            <a:off x="320040" y="4572000"/>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320040" y="4572000"/>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502920" y="45720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Everything surfaces in a Streamlit dashboard: risk score · SHAP explanations · evidence-based recommendations</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0" name="Shape 90"/>
        <p:cNvGrpSpPr/>
        <p:nvPr/>
      </p:nvGrpSpPr>
      <p:grpSpPr>
        <a:xfrm>
          <a:off x="0" y="0"/>
          <a:ext cx="0" cy="0"/>
          <a:chOff x="0" y="0"/>
          <a:chExt cx="0" cy="0"/>
        </a:xfrm>
      </p:grpSpPr>
      <p:sp>
        <p:nvSpPr>
          <p:cNvPr id="91" name="Google Shape;91;p6"/>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PhysioNet Dataset</a:t>
            </a:r>
            <a:endParaRPr sz="2200">
              <a:solidFill>
                <a:schemeClr val="dk1"/>
              </a:solidFill>
              <a:latin typeface="Calibri"/>
              <a:ea typeface="Calibri"/>
              <a:cs typeface="Calibri"/>
              <a:sym typeface="Calibri"/>
            </a:endParaRPr>
          </a:p>
        </p:txBody>
      </p:sp>
      <p:sp>
        <p:nvSpPr>
          <p:cNvPr id="94" name="Google Shape;94;p6"/>
          <p:cNvSpPr/>
          <p:nvPr/>
        </p:nvSpPr>
        <p:spPr>
          <a:xfrm>
            <a:off x="365760" y="868680"/>
            <a:ext cx="2697480" cy="105156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365760" y="868680"/>
            <a:ext cx="73152" cy="105156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3035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40,336</a:t>
            </a:r>
            <a:endParaRPr sz="2600">
              <a:solidFill>
                <a:schemeClr val="dk1"/>
              </a:solidFill>
              <a:latin typeface="Calibri"/>
              <a:ea typeface="Calibri"/>
              <a:cs typeface="Calibri"/>
              <a:sym typeface="Calibri"/>
            </a:endParaRPr>
          </a:p>
        </p:txBody>
      </p:sp>
      <p:sp>
        <p:nvSpPr>
          <p:cNvPr id="97" name="Google Shape;97;p6"/>
          <p:cNvSpPr/>
          <p:nvPr/>
        </p:nvSpPr>
        <p:spPr>
          <a:xfrm>
            <a:off x="53035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De-identified ICU</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patient stays</a:t>
            </a:r>
            <a:endParaRPr sz="1050">
              <a:solidFill>
                <a:schemeClr val="dk1"/>
              </a:solidFill>
              <a:latin typeface="Calibri"/>
              <a:ea typeface="Calibri"/>
              <a:cs typeface="Calibri"/>
              <a:sym typeface="Calibri"/>
            </a:endParaRPr>
          </a:p>
        </p:txBody>
      </p:sp>
      <p:sp>
        <p:nvSpPr>
          <p:cNvPr id="98" name="Google Shape;98;p6"/>
          <p:cNvSpPr/>
          <p:nvPr/>
        </p:nvSpPr>
        <p:spPr>
          <a:xfrm>
            <a:off x="3246120" y="868680"/>
            <a:ext cx="2697480" cy="105156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3246120" y="868680"/>
            <a:ext cx="73152" cy="105156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341071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1.55M</a:t>
            </a:r>
            <a:endParaRPr sz="2600">
              <a:solidFill>
                <a:schemeClr val="dk1"/>
              </a:solidFill>
              <a:latin typeface="Calibri"/>
              <a:ea typeface="Calibri"/>
              <a:cs typeface="Calibri"/>
              <a:sym typeface="Calibri"/>
            </a:endParaRPr>
          </a:p>
        </p:txBody>
      </p:sp>
      <p:sp>
        <p:nvSpPr>
          <p:cNvPr id="101" name="Google Shape;101;p6"/>
          <p:cNvSpPr/>
          <p:nvPr/>
        </p:nvSpPr>
        <p:spPr>
          <a:xfrm>
            <a:off x="341071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Hourly records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across all stays</a:t>
            </a:r>
            <a:endParaRPr sz="1050">
              <a:solidFill>
                <a:schemeClr val="dk1"/>
              </a:solidFill>
              <a:latin typeface="Calibri"/>
              <a:ea typeface="Calibri"/>
              <a:cs typeface="Calibri"/>
              <a:sym typeface="Calibri"/>
            </a:endParaRPr>
          </a:p>
        </p:txBody>
      </p:sp>
      <p:sp>
        <p:nvSpPr>
          <p:cNvPr id="102" name="Google Shape;102;p6"/>
          <p:cNvSpPr/>
          <p:nvPr/>
        </p:nvSpPr>
        <p:spPr>
          <a:xfrm>
            <a:off x="6126480" y="868680"/>
            <a:ext cx="2697480" cy="105156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6126480" y="868680"/>
            <a:ext cx="73152" cy="105156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291072" y="94183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1.8%</a:t>
            </a:r>
            <a:endParaRPr sz="2600">
              <a:solidFill>
                <a:schemeClr val="dk1"/>
              </a:solidFill>
              <a:latin typeface="Calibri"/>
              <a:ea typeface="Calibri"/>
              <a:cs typeface="Calibri"/>
              <a:sym typeface="Calibri"/>
            </a:endParaRPr>
          </a:p>
        </p:txBody>
      </p:sp>
      <p:sp>
        <p:nvSpPr>
          <p:cNvPr id="105" name="Google Shape;105;p6"/>
          <p:cNvSpPr/>
          <p:nvPr/>
        </p:nvSpPr>
        <p:spPr>
          <a:xfrm>
            <a:off x="6291072" y="14173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Hourly records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8EFF5"/>
              </a:buClr>
              <a:buSzPts val="1050"/>
              <a:buFont typeface="Calibri"/>
              <a:buNone/>
            </a:pPr>
            <a:r>
              <a:rPr lang="en-US" sz="1050">
                <a:solidFill>
                  <a:srgbClr val="E8EFF5"/>
                </a:solidFill>
                <a:latin typeface="Calibri"/>
                <a:ea typeface="Calibri"/>
                <a:cs typeface="Calibri"/>
                <a:sym typeface="Calibri"/>
              </a:rPr>
              <a:t>labeled sepsis</a:t>
            </a:r>
            <a:endParaRPr sz="1050">
              <a:solidFill>
                <a:schemeClr val="dk1"/>
              </a:solidFill>
              <a:latin typeface="Calibri"/>
              <a:ea typeface="Calibri"/>
              <a:cs typeface="Calibri"/>
              <a:sym typeface="Calibri"/>
            </a:endParaRPr>
          </a:p>
        </p:txBody>
      </p:sp>
      <p:sp>
        <p:nvSpPr>
          <p:cNvPr id="106" name="Google Shape;106;p6"/>
          <p:cNvSpPr/>
          <p:nvPr/>
        </p:nvSpPr>
        <p:spPr>
          <a:xfrm>
            <a:off x="320040" y="2084832"/>
            <a:ext cx="4160520" cy="246430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320040" y="2084832"/>
            <a:ext cx="4160520" cy="4023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475488" y="2084832"/>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Dataset features</a:t>
            </a:r>
            <a:endParaRPr sz="1300">
              <a:solidFill>
                <a:schemeClr val="dk1"/>
              </a:solidFill>
              <a:latin typeface="Calibri"/>
              <a:ea typeface="Calibri"/>
              <a:cs typeface="Calibri"/>
              <a:sym typeface="Calibri"/>
            </a:endParaRPr>
          </a:p>
        </p:txBody>
      </p:sp>
      <p:sp>
        <p:nvSpPr>
          <p:cNvPr id="109" name="Google Shape;109;p6"/>
          <p:cNvSpPr/>
          <p:nvPr/>
        </p:nvSpPr>
        <p:spPr>
          <a:xfrm>
            <a:off x="475488" y="2578608"/>
            <a:ext cx="3840480" cy="187909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14 engineered temporal features - hourly deltas and 3-hour rolling means for 7 vitals, capturing deterioration  patterns</a:t>
            </a:r>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26 lab values - measured when clinicians order them</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6 demographic features (age, gender, admit time, ICULOS …)</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Total: 40 raw columns before feature selection</a:t>
            </a:r>
            <a:endParaRPr sz="1250">
              <a:solidFill>
                <a:schemeClr val="dk1"/>
              </a:solidFill>
              <a:latin typeface="Calibri"/>
              <a:ea typeface="Calibri"/>
              <a:cs typeface="Calibri"/>
              <a:sym typeface="Calibri"/>
            </a:endParaRPr>
          </a:p>
        </p:txBody>
      </p:sp>
      <p:sp>
        <p:nvSpPr>
          <p:cNvPr id="110" name="Google Shape;110;p6"/>
          <p:cNvSpPr/>
          <p:nvPr/>
        </p:nvSpPr>
        <p:spPr>
          <a:xfrm>
            <a:off x="4709160" y="2084832"/>
            <a:ext cx="4160520" cy="246430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4709160" y="2084832"/>
            <a:ext cx="4160520" cy="40233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864608" y="2084832"/>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Key challenges</a:t>
            </a:r>
            <a:endParaRPr sz="1300">
              <a:solidFill>
                <a:schemeClr val="dk1"/>
              </a:solidFill>
              <a:latin typeface="Calibri"/>
              <a:ea typeface="Calibri"/>
              <a:cs typeface="Calibri"/>
              <a:sym typeface="Calibri"/>
            </a:endParaRPr>
          </a:p>
        </p:txBody>
      </p:sp>
      <p:sp>
        <p:nvSpPr>
          <p:cNvPr id="113" name="Google Shape;113;p6"/>
          <p:cNvSpPr/>
          <p:nvPr/>
        </p:nvSpPr>
        <p:spPr>
          <a:xfrm>
            <a:off x="4864608" y="2578608"/>
            <a:ext cx="3840480" cy="187909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Only 1.8% of hourly records positive - extreme class imbalance</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2,932 sepsis patients out of 40,336 total</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Lab missingness: BUN 93%, Glucose 89%, pH 80%+ missing</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Model must learn from very few positive examples</a:t>
            </a:r>
            <a:endParaRPr sz="1250">
              <a:solidFill>
                <a:schemeClr val="dk1"/>
              </a:solidFill>
              <a:latin typeface="Calibri"/>
              <a:ea typeface="Calibri"/>
              <a:cs typeface="Calibri"/>
              <a:sym typeface="Calibri"/>
            </a:endParaRPr>
          </a:p>
        </p:txBody>
      </p:sp>
      <p:sp>
        <p:nvSpPr>
          <p:cNvPr id="114" name="Google Shape;114;p6"/>
          <p:cNvSpPr/>
          <p:nvPr/>
        </p:nvSpPr>
        <p:spPr>
          <a:xfrm>
            <a:off x="320040" y="4645152"/>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320040" y="4645152"/>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502920" y="464515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Patient-level 80/20 train-test split — no patient appears in both sets (prevents data leakage)</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7"/>
          <p:cNvPicPr preferRelativeResize="0"/>
          <p:nvPr/>
        </p:nvPicPr>
        <p:blipFill>
          <a:blip r:embed="rId3">
            <a:alphaModFix/>
          </a:blip>
          <a:stretch>
            <a:fillRect/>
          </a:stretch>
        </p:blipFill>
        <p:spPr>
          <a:xfrm>
            <a:off x="1748950" y="152400"/>
            <a:ext cx="5138442"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26" name="Shape 126"/>
        <p:cNvGrpSpPr/>
        <p:nvPr/>
      </p:nvGrpSpPr>
      <p:grpSpPr>
        <a:xfrm>
          <a:off x="0" y="0"/>
          <a:ext cx="0" cy="0"/>
          <a:chOff x="0" y="0"/>
          <a:chExt cx="0" cy="0"/>
        </a:xfrm>
      </p:grpSpPr>
      <p:sp>
        <p:nvSpPr>
          <p:cNvPr id="127" name="Google Shape;127;p8"/>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Preprocessing &amp; Feature Engineering</a:t>
            </a:r>
            <a:endParaRPr sz="2200">
              <a:solidFill>
                <a:schemeClr val="dk1"/>
              </a:solidFill>
              <a:latin typeface="Calibri"/>
              <a:ea typeface="Calibri"/>
              <a:cs typeface="Calibri"/>
              <a:sym typeface="Calibri"/>
            </a:endParaRPr>
          </a:p>
        </p:txBody>
      </p:sp>
      <p:sp>
        <p:nvSpPr>
          <p:cNvPr id="130" name="Google Shape;130;p8"/>
          <p:cNvSpPr/>
          <p:nvPr/>
        </p:nvSpPr>
        <p:spPr>
          <a:xfrm>
            <a:off x="320040" y="868680"/>
            <a:ext cx="4160520" cy="16916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320040" y="868680"/>
            <a:ext cx="502920" cy="169164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320040" y="868680"/>
            <a:ext cx="502920" cy="1691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1</a:t>
            </a:r>
            <a:endParaRPr sz="2800">
              <a:solidFill>
                <a:schemeClr val="dk1"/>
              </a:solidFill>
              <a:latin typeface="Calibri"/>
              <a:ea typeface="Calibri"/>
              <a:cs typeface="Calibri"/>
              <a:sym typeface="Calibri"/>
            </a:endParaRPr>
          </a:p>
        </p:txBody>
      </p:sp>
      <p:sp>
        <p:nvSpPr>
          <p:cNvPr id="133" name="Google Shape;133;p8"/>
          <p:cNvSpPr/>
          <p:nvPr/>
        </p:nvSpPr>
        <p:spPr>
          <a:xfrm>
            <a:off x="914400" y="97840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Missing Value Handling</a:t>
            </a:r>
            <a:endParaRPr sz="1300">
              <a:solidFill>
                <a:schemeClr val="dk1"/>
              </a:solidFill>
              <a:latin typeface="Calibri"/>
              <a:ea typeface="Calibri"/>
              <a:cs typeface="Calibri"/>
              <a:sym typeface="Calibri"/>
            </a:endParaRPr>
          </a:p>
        </p:txBody>
      </p:sp>
      <p:sp>
        <p:nvSpPr>
          <p:cNvPr id="134" name="Google Shape;134;p8"/>
          <p:cNvSpPr/>
          <p:nvPr/>
        </p:nvSpPr>
        <p:spPr>
          <a:xfrm>
            <a:off x="914400" y="1344168"/>
            <a:ext cx="3429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200"/>
              <a:buFont typeface="Calibri"/>
              <a:buNone/>
            </a:pPr>
            <a:r>
              <a:rPr lang="en-US" sz="1200">
                <a:solidFill>
                  <a:srgbClr val="2D4A6B"/>
                </a:solidFill>
                <a:latin typeface="Calibri"/>
                <a:ea typeface="Calibri"/>
                <a:cs typeface="Calibri"/>
                <a:sym typeface="Calibri"/>
              </a:rPr>
              <a:t>Forward-fill vital signs (recorded hourly). Global median imputation for sparse lab values.</a:t>
            </a:r>
            <a:endParaRPr sz="1200">
              <a:solidFill>
                <a:schemeClr val="dk1"/>
              </a:solidFill>
              <a:latin typeface="Calibri"/>
              <a:ea typeface="Calibri"/>
              <a:cs typeface="Calibri"/>
              <a:sym typeface="Calibri"/>
            </a:endParaRPr>
          </a:p>
        </p:txBody>
      </p:sp>
      <p:sp>
        <p:nvSpPr>
          <p:cNvPr id="135" name="Google Shape;135;p8"/>
          <p:cNvSpPr/>
          <p:nvPr/>
        </p:nvSpPr>
        <p:spPr>
          <a:xfrm>
            <a:off x="4709160" y="868680"/>
            <a:ext cx="4160520" cy="16916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4709160" y="868680"/>
            <a:ext cx="502920" cy="169164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4709160" y="868680"/>
            <a:ext cx="502920" cy="1691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2</a:t>
            </a:r>
            <a:endParaRPr sz="2800">
              <a:solidFill>
                <a:schemeClr val="dk1"/>
              </a:solidFill>
              <a:latin typeface="Calibri"/>
              <a:ea typeface="Calibri"/>
              <a:cs typeface="Calibri"/>
              <a:sym typeface="Calibri"/>
            </a:endParaRPr>
          </a:p>
        </p:txBody>
      </p:sp>
      <p:sp>
        <p:nvSpPr>
          <p:cNvPr id="138" name="Google Shape;138;p8"/>
          <p:cNvSpPr/>
          <p:nvPr/>
        </p:nvSpPr>
        <p:spPr>
          <a:xfrm>
            <a:off x="5303520" y="97840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Feature Selection</a:t>
            </a:r>
            <a:endParaRPr sz="1300">
              <a:solidFill>
                <a:schemeClr val="dk1"/>
              </a:solidFill>
              <a:latin typeface="Calibri"/>
              <a:ea typeface="Calibri"/>
              <a:cs typeface="Calibri"/>
              <a:sym typeface="Calibri"/>
            </a:endParaRPr>
          </a:p>
        </p:txBody>
      </p:sp>
      <p:sp>
        <p:nvSpPr>
          <p:cNvPr id="139" name="Google Shape;139;p8"/>
          <p:cNvSpPr/>
          <p:nvPr/>
        </p:nvSpPr>
        <p:spPr>
          <a:xfrm>
            <a:off x="5303520" y="1344168"/>
            <a:ext cx="3429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200"/>
              <a:buFont typeface="Calibri"/>
              <a:buNone/>
            </a:pPr>
            <a:r>
              <a:rPr lang="en-US" sz="1200">
                <a:solidFill>
                  <a:srgbClr val="2D4A6B"/>
                </a:solidFill>
                <a:latin typeface="Calibri"/>
                <a:ea typeface="Calibri"/>
                <a:cs typeface="Calibri"/>
                <a:sym typeface="Calibri"/>
              </a:rPr>
              <a:t>Dropped features &gt;80% missing (BUN, Glucose, Hgb, Hct, pH). Kept 16 clean base features.</a:t>
            </a:r>
            <a:endParaRPr sz="1200">
              <a:solidFill>
                <a:schemeClr val="dk1"/>
              </a:solidFill>
              <a:latin typeface="Calibri"/>
              <a:ea typeface="Calibri"/>
              <a:cs typeface="Calibri"/>
              <a:sym typeface="Calibri"/>
            </a:endParaRPr>
          </a:p>
        </p:txBody>
      </p:sp>
      <p:sp>
        <p:nvSpPr>
          <p:cNvPr id="140" name="Google Shape;140;p8"/>
          <p:cNvSpPr/>
          <p:nvPr/>
        </p:nvSpPr>
        <p:spPr>
          <a:xfrm>
            <a:off x="320040" y="2788920"/>
            <a:ext cx="4160520" cy="16916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20040" y="2788920"/>
            <a:ext cx="502920" cy="169164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320040" y="2788920"/>
            <a:ext cx="502920" cy="1691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3</a:t>
            </a:r>
            <a:endParaRPr sz="2800">
              <a:solidFill>
                <a:schemeClr val="dk1"/>
              </a:solidFill>
              <a:latin typeface="Calibri"/>
              <a:ea typeface="Calibri"/>
              <a:cs typeface="Calibri"/>
              <a:sym typeface="Calibri"/>
            </a:endParaRPr>
          </a:p>
        </p:txBody>
      </p:sp>
      <p:sp>
        <p:nvSpPr>
          <p:cNvPr id="143" name="Google Shape;143;p8"/>
          <p:cNvSpPr/>
          <p:nvPr/>
        </p:nvSpPr>
        <p:spPr>
          <a:xfrm>
            <a:off x="914400" y="289864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Temporal Feature Engineering</a:t>
            </a:r>
            <a:endParaRPr sz="1300">
              <a:solidFill>
                <a:schemeClr val="dk1"/>
              </a:solidFill>
              <a:latin typeface="Calibri"/>
              <a:ea typeface="Calibri"/>
              <a:cs typeface="Calibri"/>
              <a:sym typeface="Calibri"/>
            </a:endParaRPr>
          </a:p>
        </p:txBody>
      </p:sp>
      <p:sp>
        <p:nvSpPr>
          <p:cNvPr id="144" name="Google Shape;144;p8"/>
          <p:cNvSpPr/>
          <p:nvPr/>
        </p:nvSpPr>
        <p:spPr>
          <a:xfrm>
            <a:off x="914400" y="3264408"/>
            <a:ext cx="3429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200"/>
              <a:buFont typeface="Calibri"/>
              <a:buNone/>
            </a:pPr>
            <a:r>
              <a:rPr lang="en-US" sz="1200">
                <a:solidFill>
                  <a:srgbClr val="2D4A6B"/>
                </a:solidFill>
                <a:latin typeface="Calibri"/>
                <a:ea typeface="Calibri"/>
                <a:cs typeface="Calibri"/>
                <a:sym typeface="Calibri"/>
              </a:rPr>
              <a:t>For each of 7 vital signs: Δ from previous hour + 3-hour rolling mean. Adds 14 temporal features → 30 total.</a:t>
            </a:r>
            <a:endParaRPr sz="1200">
              <a:solidFill>
                <a:schemeClr val="dk1"/>
              </a:solidFill>
              <a:latin typeface="Calibri"/>
              <a:ea typeface="Calibri"/>
              <a:cs typeface="Calibri"/>
              <a:sym typeface="Calibri"/>
            </a:endParaRPr>
          </a:p>
        </p:txBody>
      </p:sp>
      <p:sp>
        <p:nvSpPr>
          <p:cNvPr id="145" name="Google Shape;145;p8"/>
          <p:cNvSpPr/>
          <p:nvPr/>
        </p:nvSpPr>
        <p:spPr>
          <a:xfrm>
            <a:off x="4709160" y="2788920"/>
            <a:ext cx="4160520" cy="169164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709160" y="2788920"/>
            <a:ext cx="502920" cy="169164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709160" y="2788920"/>
            <a:ext cx="502920" cy="1691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4</a:t>
            </a:r>
            <a:endParaRPr sz="2800">
              <a:solidFill>
                <a:schemeClr val="dk1"/>
              </a:solidFill>
              <a:latin typeface="Calibri"/>
              <a:ea typeface="Calibri"/>
              <a:cs typeface="Calibri"/>
              <a:sym typeface="Calibri"/>
            </a:endParaRPr>
          </a:p>
        </p:txBody>
      </p:sp>
      <p:sp>
        <p:nvSpPr>
          <p:cNvPr id="148" name="Google Shape;148;p8"/>
          <p:cNvSpPr/>
          <p:nvPr/>
        </p:nvSpPr>
        <p:spPr>
          <a:xfrm>
            <a:off x="5303520" y="289864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Patient-Level Train-Test Split</a:t>
            </a:r>
            <a:endParaRPr sz="1300">
              <a:solidFill>
                <a:schemeClr val="dk1"/>
              </a:solidFill>
              <a:latin typeface="Calibri"/>
              <a:ea typeface="Calibri"/>
              <a:cs typeface="Calibri"/>
              <a:sym typeface="Calibri"/>
            </a:endParaRPr>
          </a:p>
        </p:txBody>
      </p:sp>
      <p:sp>
        <p:nvSpPr>
          <p:cNvPr id="149" name="Google Shape;149;p8"/>
          <p:cNvSpPr/>
          <p:nvPr/>
        </p:nvSpPr>
        <p:spPr>
          <a:xfrm>
            <a:off x="5303520" y="3264408"/>
            <a:ext cx="3429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200"/>
              <a:buFont typeface="Calibri"/>
              <a:buNone/>
            </a:pPr>
            <a:r>
              <a:rPr lang="en-US" sz="1200">
                <a:solidFill>
                  <a:srgbClr val="2D4A6B"/>
                </a:solidFill>
                <a:latin typeface="Calibri"/>
                <a:ea typeface="Calibri"/>
                <a:cs typeface="Calibri"/>
                <a:sym typeface="Calibri"/>
              </a:rPr>
              <a:t>80% train / 20% test split by patient ID — no data leakage between sets.</a:t>
            </a:r>
            <a:endParaRPr sz="1200">
              <a:solidFill>
                <a:schemeClr val="dk1"/>
              </a:solidFill>
              <a:latin typeface="Calibri"/>
              <a:ea typeface="Calibri"/>
              <a:cs typeface="Calibri"/>
              <a:sym typeface="Calibri"/>
            </a:endParaRPr>
          </a:p>
        </p:txBody>
      </p:sp>
      <p:sp>
        <p:nvSpPr>
          <p:cNvPr id="150" name="Google Shape;150;p8"/>
          <p:cNvSpPr/>
          <p:nvPr/>
        </p:nvSpPr>
        <p:spPr>
          <a:xfrm>
            <a:off x="320040" y="4636008"/>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320040" y="4636008"/>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502920" y="463600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Key insight: sepsis isn't just about absolute values — deterioration patterns matter. A HR of 100 rising from 80 is very different from a stable 100.</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57" name="Shape 157"/>
        <p:cNvGrpSpPr/>
        <p:nvPr/>
      </p:nvGrpSpPr>
      <p:grpSpPr>
        <a:xfrm>
          <a:off x="0" y="0"/>
          <a:ext cx="0" cy="0"/>
          <a:chOff x="0" y="0"/>
          <a:chExt cx="0" cy="0"/>
        </a:xfrm>
      </p:grpSpPr>
      <p:sp>
        <p:nvSpPr>
          <p:cNvPr id="158" name="Google Shape;158;p9"/>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Model Selection</a:t>
            </a:r>
            <a:endParaRPr sz="2200">
              <a:solidFill>
                <a:schemeClr val="dk1"/>
              </a:solidFill>
              <a:latin typeface="Calibri"/>
              <a:ea typeface="Calibri"/>
              <a:cs typeface="Calibri"/>
              <a:sym typeface="Calibri"/>
            </a:endParaRPr>
          </a:p>
        </p:txBody>
      </p:sp>
      <p:sp>
        <p:nvSpPr>
          <p:cNvPr id="161" name="Google Shape;161;p9"/>
          <p:cNvSpPr/>
          <p:nvPr/>
        </p:nvSpPr>
        <p:spPr>
          <a:xfrm>
            <a:off x="320040" y="868680"/>
            <a:ext cx="4160520" cy="1719072"/>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320040" y="868680"/>
            <a:ext cx="4160520" cy="402336"/>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429768" y="868680"/>
            <a:ext cx="32004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Logistic Regression - Baseline</a:t>
            </a:r>
            <a:endParaRPr sz="1200">
              <a:solidFill>
                <a:schemeClr val="dk1"/>
              </a:solidFill>
              <a:latin typeface="Calibri"/>
              <a:ea typeface="Calibri"/>
              <a:cs typeface="Calibri"/>
              <a:sym typeface="Calibri"/>
            </a:endParaRPr>
          </a:p>
        </p:txBody>
      </p:sp>
      <p:sp>
        <p:nvSpPr>
          <p:cNvPr id="164" name="Google Shape;164;p9"/>
          <p:cNvSpPr/>
          <p:nvPr/>
        </p:nvSpPr>
        <p:spPr>
          <a:xfrm>
            <a:off x="3657600" y="923544"/>
            <a:ext cx="713232" cy="292608"/>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3657600" y="923544"/>
            <a:ext cx="713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Reference</a:t>
            </a:r>
            <a:endParaRPr sz="850">
              <a:solidFill>
                <a:schemeClr val="dk1"/>
              </a:solidFill>
              <a:latin typeface="Calibri"/>
              <a:ea typeface="Calibri"/>
              <a:cs typeface="Calibri"/>
              <a:sym typeface="Calibri"/>
            </a:endParaRPr>
          </a:p>
        </p:txBody>
      </p:sp>
      <p:sp>
        <p:nvSpPr>
          <p:cNvPr id="166" name="Google Shape;166;p9"/>
          <p:cNvSpPr/>
          <p:nvPr/>
        </p:nvSpPr>
        <p:spPr>
          <a:xfrm>
            <a:off x="457200" y="1344168"/>
            <a:ext cx="38862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Simple &amp; interpretable</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Fast training</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Linear boundaries only</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Can't model feature interactions</a:t>
            </a:r>
            <a:endParaRPr sz="1100">
              <a:solidFill>
                <a:schemeClr val="dk1"/>
              </a:solidFill>
              <a:latin typeface="Calibri"/>
              <a:ea typeface="Calibri"/>
              <a:cs typeface="Calibri"/>
              <a:sym typeface="Calibri"/>
            </a:endParaRPr>
          </a:p>
        </p:txBody>
      </p:sp>
      <p:sp>
        <p:nvSpPr>
          <p:cNvPr id="167" name="Google Shape;167;p9"/>
          <p:cNvSpPr/>
          <p:nvPr/>
        </p:nvSpPr>
        <p:spPr>
          <a:xfrm>
            <a:off x="4709160" y="868680"/>
            <a:ext cx="4160520" cy="1719072"/>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709160" y="868680"/>
            <a:ext cx="4160520" cy="40233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4818888" y="868680"/>
            <a:ext cx="32004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Random Forest - Considered</a:t>
            </a:r>
            <a:endParaRPr sz="1200">
              <a:solidFill>
                <a:schemeClr val="dk1"/>
              </a:solidFill>
              <a:latin typeface="Calibri"/>
              <a:ea typeface="Calibri"/>
              <a:cs typeface="Calibri"/>
              <a:sym typeface="Calibri"/>
            </a:endParaRPr>
          </a:p>
        </p:txBody>
      </p:sp>
      <p:sp>
        <p:nvSpPr>
          <p:cNvPr id="170" name="Google Shape;170;p9"/>
          <p:cNvSpPr/>
          <p:nvPr/>
        </p:nvSpPr>
        <p:spPr>
          <a:xfrm>
            <a:off x="8046720" y="923544"/>
            <a:ext cx="713232" cy="29260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8046720" y="923544"/>
            <a:ext cx="713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Overfit</a:t>
            </a:r>
            <a:endParaRPr sz="850">
              <a:solidFill>
                <a:schemeClr val="dk1"/>
              </a:solidFill>
              <a:latin typeface="Calibri"/>
              <a:ea typeface="Calibri"/>
              <a:cs typeface="Calibri"/>
              <a:sym typeface="Calibri"/>
            </a:endParaRPr>
          </a:p>
        </p:txBody>
      </p:sp>
      <p:sp>
        <p:nvSpPr>
          <p:cNvPr id="172" name="Google Shape;172;p9"/>
          <p:cNvSpPr/>
          <p:nvPr/>
        </p:nvSpPr>
        <p:spPr>
          <a:xfrm>
            <a:off x="4846320" y="1344168"/>
            <a:ext cx="38862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Handles non-linearity</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Overfit on small initial dataset</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Slow on large feature sets</a:t>
            </a:r>
            <a:endParaRPr sz="1100">
              <a:solidFill>
                <a:schemeClr val="dk1"/>
              </a:solidFill>
              <a:latin typeface="Calibri"/>
              <a:ea typeface="Calibri"/>
              <a:cs typeface="Calibri"/>
              <a:sym typeface="Calibri"/>
            </a:endParaRPr>
          </a:p>
        </p:txBody>
      </p:sp>
      <p:sp>
        <p:nvSpPr>
          <p:cNvPr id="173" name="Google Shape;173;p9"/>
          <p:cNvSpPr/>
          <p:nvPr/>
        </p:nvSpPr>
        <p:spPr>
          <a:xfrm>
            <a:off x="320040" y="2788920"/>
            <a:ext cx="4160520" cy="1719072"/>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320040" y="2788920"/>
            <a:ext cx="4160520" cy="402336"/>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29768" y="2788920"/>
            <a:ext cx="32004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LSTM  -  Considered</a:t>
            </a:r>
            <a:endParaRPr sz="1200">
              <a:solidFill>
                <a:schemeClr val="dk1"/>
              </a:solidFill>
              <a:latin typeface="Calibri"/>
              <a:ea typeface="Calibri"/>
              <a:cs typeface="Calibri"/>
              <a:sym typeface="Calibri"/>
            </a:endParaRPr>
          </a:p>
        </p:txBody>
      </p:sp>
      <p:sp>
        <p:nvSpPr>
          <p:cNvPr id="176" name="Google Shape;176;p9"/>
          <p:cNvSpPr/>
          <p:nvPr/>
        </p:nvSpPr>
        <p:spPr>
          <a:xfrm>
            <a:off x="3657600" y="2843784"/>
            <a:ext cx="713232" cy="292608"/>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3657600" y="2843784"/>
            <a:ext cx="713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Insufficient data</a:t>
            </a:r>
            <a:endParaRPr sz="850">
              <a:solidFill>
                <a:schemeClr val="dk1"/>
              </a:solidFill>
              <a:latin typeface="Calibri"/>
              <a:ea typeface="Calibri"/>
              <a:cs typeface="Calibri"/>
              <a:sym typeface="Calibri"/>
            </a:endParaRPr>
          </a:p>
        </p:txBody>
      </p:sp>
      <p:sp>
        <p:nvSpPr>
          <p:cNvPr id="178" name="Google Shape;178;p9"/>
          <p:cNvSpPr/>
          <p:nvPr/>
        </p:nvSpPr>
        <p:spPr>
          <a:xfrm>
            <a:off x="457200" y="3264408"/>
            <a:ext cx="38862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Native time-series support</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Only 2,932 sepsis patients</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C0392B"/>
              </a:buClr>
              <a:buSzPts val="1100"/>
              <a:buFont typeface="Calibri"/>
              <a:buNone/>
            </a:pPr>
            <a:r>
              <a:rPr lang="en-US" sz="1100">
                <a:solidFill>
                  <a:srgbClr val="C0392B"/>
                </a:solidFill>
                <a:latin typeface="Calibri"/>
                <a:ea typeface="Calibri"/>
                <a:cs typeface="Calibri"/>
                <a:sym typeface="Calibri"/>
              </a:rPr>
              <a:t>✘ Couldn't learn stable temporal patterns</a:t>
            </a:r>
            <a:endParaRPr sz="1100">
              <a:solidFill>
                <a:schemeClr val="dk1"/>
              </a:solidFill>
              <a:latin typeface="Calibri"/>
              <a:ea typeface="Calibri"/>
              <a:cs typeface="Calibri"/>
              <a:sym typeface="Calibri"/>
            </a:endParaRPr>
          </a:p>
        </p:txBody>
      </p:sp>
      <p:sp>
        <p:nvSpPr>
          <p:cNvPr id="179" name="Google Shape;179;p9"/>
          <p:cNvSpPr/>
          <p:nvPr/>
        </p:nvSpPr>
        <p:spPr>
          <a:xfrm>
            <a:off x="4709160" y="2788920"/>
            <a:ext cx="4160520" cy="1719072"/>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4709160" y="2788920"/>
            <a:ext cx="4160520" cy="4023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4818888" y="2788920"/>
            <a:ext cx="32004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XGBoost ✓  -  Selected</a:t>
            </a:r>
            <a:endParaRPr sz="1200">
              <a:solidFill>
                <a:schemeClr val="dk1"/>
              </a:solidFill>
              <a:latin typeface="Calibri"/>
              <a:ea typeface="Calibri"/>
              <a:cs typeface="Calibri"/>
              <a:sym typeface="Calibri"/>
            </a:endParaRPr>
          </a:p>
        </p:txBody>
      </p:sp>
      <p:sp>
        <p:nvSpPr>
          <p:cNvPr id="182" name="Google Shape;182;p9"/>
          <p:cNvSpPr/>
          <p:nvPr/>
        </p:nvSpPr>
        <p:spPr>
          <a:xfrm>
            <a:off x="8046720" y="2843784"/>
            <a:ext cx="713232" cy="29260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8046720" y="2843784"/>
            <a:ext cx="713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AUROC 0.81</a:t>
            </a:r>
            <a:endParaRPr sz="850">
              <a:solidFill>
                <a:schemeClr val="dk1"/>
              </a:solidFill>
              <a:latin typeface="Calibri"/>
              <a:ea typeface="Calibri"/>
              <a:cs typeface="Calibri"/>
              <a:sym typeface="Calibri"/>
            </a:endParaRPr>
          </a:p>
        </p:txBody>
      </p:sp>
      <p:sp>
        <p:nvSpPr>
          <p:cNvPr id="184" name="Google Shape;184;p9"/>
          <p:cNvSpPr/>
          <p:nvPr/>
        </p:nvSpPr>
        <p:spPr>
          <a:xfrm>
            <a:off x="4846320" y="3264408"/>
            <a:ext cx="38862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Native tabular data support</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scale_pos_weight for imbalance</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Captures Non-linear interactions via tree splits</a:t>
            </a:r>
            <a:endParaRPr sz="1100">
              <a:solidFill>
                <a:schemeClr val="dk1"/>
              </a:solidFill>
              <a:latin typeface="Calibri"/>
              <a:ea typeface="Calibri"/>
              <a:cs typeface="Calibri"/>
              <a:sym typeface="Calibri"/>
            </a:endParaRPr>
          </a:p>
          <a:p>
            <a:pPr indent="0" lvl="0" marL="0" marR="0" rtl="0" algn="l">
              <a:spcBef>
                <a:spcPts val="50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 Works well at moderate dataset size</a:t>
            </a:r>
            <a:endParaRPr sz="1100">
              <a:solidFill>
                <a:schemeClr val="dk1"/>
              </a:solidFill>
              <a:latin typeface="Calibri"/>
              <a:ea typeface="Calibri"/>
              <a:cs typeface="Calibri"/>
              <a:sym typeface="Calibri"/>
            </a:endParaRPr>
          </a:p>
        </p:txBody>
      </p:sp>
      <p:sp>
        <p:nvSpPr>
          <p:cNvPr id="185" name="Google Shape;185;p9"/>
          <p:cNvSpPr/>
          <p:nvPr/>
        </p:nvSpPr>
        <p:spPr>
          <a:xfrm>
            <a:off x="320040" y="4636008"/>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320040" y="4636008"/>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502920" y="463600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Both XGBoost and Logistic Regression use the same 30 features and same train-test split for fair comparison</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92" name="Shape 192"/>
        <p:cNvGrpSpPr/>
        <p:nvPr/>
      </p:nvGrpSpPr>
      <p:grpSpPr>
        <a:xfrm>
          <a:off x="0" y="0"/>
          <a:ext cx="0" cy="0"/>
          <a:chOff x="0" y="0"/>
          <a:chExt cx="0" cy="0"/>
        </a:xfrm>
      </p:grpSpPr>
      <p:sp>
        <p:nvSpPr>
          <p:cNvPr id="193" name="Google Shape;193;p10"/>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XGBoost Training &amp; Hyperparameter Tuning</a:t>
            </a:r>
            <a:endParaRPr sz="2200">
              <a:solidFill>
                <a:schemeClr val="dk1"/>
              </a:solidFill>
              <a:latin typeface="Calibri"/>
              <a:ea typeface="Calibri"/>
              <a:cs typeface="Calibri"/>
              <a:sym typeface="Calibri"/>
            </a:endParaRPr>
          </a:p>
        </p:txBody>
      </p:sp>
      <p:sp>
        <p:nvSpPr>
          <p:cNvPr id="196" name="Google Shape;196;p10"/>
          <p:cNvSpPr/>
          <p:nvPr/>
        </p:nvSpPr>
        <p:spPr>
          <a:xfrm>
            <a:off x="320040" y="822960"/>
            <a:ext cx="4160520" cy="292608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320040" y="822960"/>
            <a:ext cx="4160520" cy="4023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475488" y="822960"/>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Optuna Bayesian Optimization</a:t>
            </a:r>
            <a:endParaRPr sz="1300">
              <a:solidFill>
                <a:schemeClr val="dk1"/>
              </a:solidFill>
              <a:latin typeface="Calibri"/>
              <a:ea typeface="Calibri"/>
              <a:cs typeface="Calibri"/>
              <a:sym typeface="Calibri"/>
            </a:endParaRPr>
          </a:p>
        </p:txBody>
      </p:sp>
      <p:sp>
        <p:nvSpPr>
          <p:cNvPr id="199" name="Google Shape;199;p10"/>
          <p:cNvSpPr/>
          <p:nvPr/>
        </p:nvSpPr>
        <p:spPr>
          <a:xfrm>
            <a:off x="475488" y="1316736"/>
            <a:ext cx="3840480" cy="2331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Ran </a:t>
            </a:r>
            <a:r>
              <a:rPr lang="en-US" sz="1300">
                <a:solidFill>
                  <a:srgbClr val="0A2342"/>
                </a:solidFill>
                <a:latin typeface="Calibri"/>
                <a:ea typeface="Calibri"/>
                <a:cs typeface="Calibri"/>
                <a:sym typeface="Calibri"/>
              </a:rPr>
              <a:t>50 trials × 3-fold stratified cross-validation</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Tuned: n_estimators, max_depth, learning rate</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Tuned: scale_pos_weight, subsample, colsample</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Tuned: L1 / L2 regularization (alpha, lambda)</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300"/>
              <a:buFont typeface="Calibri"/>
              <a:buChar char="•"/>
            </a:pPr>
            <a:r>
              <a:rPr lang="en-US" sz="1300">
                <a:solidFill>
                  <a:srgbClr val="0A2342"/>
                </a:solidFill>
                <a:latin typeface="Calibri"/>
                <a:ea typeface="Calibri"/>
                <a:cs typeface="Calibri"/>
                <a:sym typeface="Calibri"/>
              </a:rPr>
              <a:t>Early stopping: halts if val AUC flat for 30 rounds</a:t>
            </a:r>
            <a:endParaRPr sz="1300">
              <a:solidFill>
                <a:schemeClr val="dk1"/>
              </a:solidFill>
              <a:latin typeface="Calibri"/>
              <a:ea typeface="Calibri"/>
              <a:cs typeface="Calibri"/>
              <a:sym typeface="Calibri"/>
            </a:endParaRPr>
          </a:p>
        </p:txBody>
      </p:sp>
      <p:sp>
        <p:nvSpPr>
          <p:cNvPr id="200" name="Google Shape;200;p10"/>
          <p:cNvSpPr/>
          <p:nvPr/>
        </p:nvSpPr>
        <p:spPr>
          <a:xfrm>
            <a:off x="4709160" y="822960"/>
            <a:ext cx="4160520" cy="138988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4709160" y="822960"/>
            <a:ext cx="4160520" cy="402336"/>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4864608" y="822960"/>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Best configuration (Optuna)</a:t>
            </a:r>
            <a:endParaRPr sz="1300">
              <a:solidFill>
                <a:schemeClr val="dk1"/>
              </a:solidFill>
              <a:latin typeface="Calibri"/>
              <a:ea typeface="Calibri"/>
              <a:cs typeface="Calibri"/>
              <a:sym typeface="Calibri"/>
            </a:endParaRPr>
          </a:p>
        </p:txBody>
      </p:sp>
      <p:sp>
        <p:nvSpPr>
          <p:cNvPr id="203" name="Google Shape;203;p10"/>
          <p:cNvSpPr/>
          <p:nvPr/>
        </p:nvSpPr>
        <p:spPr>
          <a:xfrm>
            <a:off x="4864608" y="1316736"/>
            <a:ext cx="2286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150"/>
              <a:buFont typeface="Calibri"/>
              <a:buNone/>
            </a:pPr>
            <a:r>
              <a:rPr lang="en-US" sz="1150">
                <a:solidFill>
                  <a:srgbClr val="2D4A6B"/>
                </a:solidFill>
                <a:latin typeface="Calibri"/>
                <a:ea typeface="Calibri"/>
                <a:cs typeface="Calibri"/>
                <a:sym typeface="Calibri"/>
              </a:rPr>
              <a:t>max_depth</a:t>
            </a:r>
            <a:endParaRPr sz="1150">
              <a:solidFill>
                <a:schemeClr val="dk1"/>
              </a:solidFill>
              <a:latin typeface="Calibri"/>
              <a:ea typeface="Calibri"/>
              <a:cs typeface="Calibri"/>
              <a:sym typeface="Calibri"/>
            </a:endParaRPr>
          </a:p>
        </p:txBody>
      </p:sp>
      <p:sp>
        <p:nvSpPr>
          <p:cNvPr id="204" name="Google Shape;204;p10"/>
          <p:cNvSpPr/>
          <p:nvPr/>
        </p:nvSpPr>
        <p:spPr>
          <a:xfrm>
            <a:off x="7150608" y="1316736"/>
            <a:ext cx="1554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8090"/>
              </a:buClr>
              <a:buSzPts val="1150"/>
              <a:buFont typeface="Calibri"/>
              <a:buNone/>
            </a:pPr>
            <a:r>
              <a:rPr b="1" lang="en-US" sz="1150">
                <a:solidFill>
                  <a:srgbClr val="028090"/>
                </a:solidFill>
                <a:latin typeface="Calibri"/>
                <a:ea typeface="Calibri"/>
                <a:cs typeface="Calibri"/>
                <a:sym typeface="Calibri"/>
              </a:rPr>
              <a:t>5</a:t>
            </a:r>
            <a:endParaRPr sz="1150">
              <a:solidFill>
                <a:schemeClr val="dk1"/>
              </a:solidFill>
              <a:latin typeface="Calibri"/>
              <a:ea typeface="Calibri"/>
              <a:cs typeface="Calibri"/>
              <a:sym typeface="Calibri"/>
            </a:endParaRPr>
          </a:p>
        </p:txBody>
      </p:sp>
      <p:sp>
        <p:nvSpPr>
          <p:cNvPr id="205" name="Google Shape;205;p10"/>
          <p:cNvSpPr/>
          <p:nvPr/>
        </p:nvSpPr>
        <p:spPr>
          <a:xfrm>
            <a:off x="4864608" y="1536192"/>
            <a:ext cx="2286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150"/>
              <a:buFont typeface="Calibri"/>
              <a:buNone/>
            </a:pPr>
            <a:r>
              <a:rPr lang="en-US" sz="1150">
                <a:solidFill>
                  <a:srgbClr val="2D4A6B"/>
                </a:solidFill>
                <a:latin typeface="Calibri"/>
                <a:ea typeface="Calibri"/>
                <a:cs typeface="Calibri"/>
                <a:sym typeface="Calibri"/>
              </a:rPr>
              <a:t>learning_rate</a:t>
            </a:r>
            <a:endParaRPr sz="1150">
              <a:solidFill>
                <a:schemeClr val="dk1"/>
              </a:solidFill>
              <a:latin typeface="Calibri"/>
              <a:ea typeface="Calibri"/>
              <a:cs typeface="Calibri"/>
              <a:sym typeface="Calibri"/>
            </a:endParaRPr>
          </a:p>
        </p:txBody>
      </p:sp>
      <p:sp>
        <p:nvSpPr>
          <p:cNvPr id="206" name="Google Shape;206;p10"/>
          <p:cNvSpPr/>
          <p:nvPr/>
        </p:nvSpPr>
        <p:spPr>
          <a:xfrm>
            <a:off x="7150608" y="1536192"/>
            <a:ext cx="1554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8090"/>
              </a:buClr>
              <a:buSzPts val="1150"/>
              <a:buFont typeface="Calibri"/>
              <a:buNone/>
            </a:pPr>
            <a:r>
              <a:rPr b="1" lang="en-US" sz="1150">
                <a:solidFill>
                  <a:srgbClr val="028090"/>
                </a:solidFill>
                <a:latin typeface="Calibri"/>
                <a:ea typeface="Calibri"/>
                <a:cs typeface="Calibri"/>
                <a:sym typeface="Calibri"/>
              </a:rPr>
              <a:t>0.02</a:t>
            </a:r>
            <a:endParaRPr sz="1150">
              <a:solidFill>
                <a:schemeClr val="dk1"/>
              </a:solidFill>
              <a:latin typeface="Calibri"/>
              <a:ea typeface="Calibri"/>
              <a:cs typeface="Calibri"/>
              <a:sym typeface="Calibri"/>
            </a:endParaRPr>
          </a:p>
        </p:txBody>
      </p:sp>
      <p:sp>
        <p:nvSpPr>
          <p:cNvPr id="207" name="Google Shape;207;p10"/>
          <p:cNvSpPr/>
          <p:nvPr/>
        </p:nvSpPr>
        <p:spPr>
          <a:xfrm>
            <a:off x="4864608" y="1755648"/>
            <a:ext cx="2286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150"/>
              <a:buFont typeface="Calibri"/>
              <a:buNone/>
            </a:pPr>
            <a:r>
              <a:rPr lang="en-US" sz="1150">
                <a:solidFill>
                  <a:srgbClr val="2D4A6B"/>
                </a:solidFill>
                <a:latin typeface="Calibri"/>
                <a:ea typeface="Calibri"/>
                <a:cs typeface="Calibri"/>
                <a:sym typeface="Calibri"/>
              </a:rPr>
              <a:t>scale_pos_weight</a:t>
            </a:r>
            <a:endParaRPr sz="1150">
              <a:solidFill>
                <a:schemeClr val="dk1"/>
              </a:solidFill>
              <a:latin typeface="Calibri"/>
              <a:ea typeface="Calibri"/>
              <a:cs typeface="Calibri"/>
              <a:sym typeface="Calibri"/>
            </a:endParaRPr>
          </a:p>
        </p:txBody>
      </p:sp>
      <p:sp>
        <p:nvSpPr>
          <p:cNvPr id="208" name="Google Shape;208;p10"/>
          <p:cNvSpPr/>
          <p:nvPr/>
        </p:nvSpPr>
        <p:spPr>
          <a:xfrm>
            <a:off x="7150608" y="1755648"/>
            <a:ext cx="1554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8090"/>
              </a:buClr>
              <a:buSzPts val="1150"/>
              <a:buFont typeface="Calibri"/>
              <a:buNone/>
            </a:pPr>
            <a:r>
              <a:rPr b="1" lang="en-US" sz="1150">
                <a:solidFill>
                  <a:srgbClr val="028090"/>
                </a:solidFill>
                <a:latin typeface="Calibri"/>
                <a:ea typeface="Calibri"/>
                <a:cs typeface="Calibri"/>
                <a:sym typeface="Calibri"/>
              </a:rPr>
              <a:t>~20</a:t>
            </a:r>
            <a:endParaRPr sz="1150">
              <a:solidFill>
                <a:schemeClr val="dk1"/>
              </a:solidFill>
              <a:latin typeface="Calibri"/>
              <a:ea typeface="Calibri"/>
              <a:cs typeface="Calibri"/>
              <a:sym typeface="Calibri"/>
            </a:endParaRPr>
          </a:p>
        </p:txBody>
      </p:sp>
      <p:sp>
        <p:nvSpPr>
          <p:cNvPr id="209" name="Google Shape;209;p10"/>
          <p:cNvSpPr/>
          <p:nvPr/>
        </p:nvSpPr>
        <p:spPr>
          <a:xfrm>
            <a:off x="4864608" y="1975104"/>
            <a:ext cx="2286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4A6B"/>
              </a:buClr>
              <a:buSzPts val="1150"/>
              <a:buFont typeface="Calibri"/>
              <a:buNone/>
            </a:pPr>
            <a:r>
              <a:rPr lang="en-US" sz="1150">
                <a:solidFill>
                  <a:srgbClr val="2D4A6B"/>
                </a:solidFill>
                <a:latin typeface="Calibri"/>
                <a:ea typeface="Calibri"/>
                <a:cs typeface="Calibri"/>
                <a:sym typeface="Calibri"/>
              </a:rPr>
              <a:t>n_estimators</a:t>
            </a:r>
            <a:endParaRPr sz="1150">
              <a:solidFill>
                <a:schemeClr val="dk1"/>
              </a:solidFill>
              <a:latin typeface="Calibri"/>
              <a:ea typeface="Calibri"/>
              <a:cs typeface="Calibri"/>
              <a:sym typeface="Calibri"/>
            </a:endParaRPr>
          </a:p>
        </p:txBody>
      </p:sp>
      <p:sp>
        <p:nvSpPr>
          <p:cNvPr id="210" name="Google Shape;210;p10"/>
          <p:cNvSpPr/>
          <p:nvPr/>
        </p:nvSpPr>
        <p:spPr>
          <a:xfrm>
            <a:off x="7150608" y="1975104"/>
            <a:ext cx="1554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28090"/>
              </a:buClr>
              <a:buSzPts val="1150"/>
              <a:buFont typeface="Calibri"/>
              <a:buNone/>
            </a:pPr>
            <a:r>
              <a:rPr b="1" lang="en-US" sz="1150">
                <a:solidFill>
                  <a:srgbClr val="028090"/>
                </a:solidFill>
                <a:latin typeface="Calibri"/>
                <a:ea typeface="Calibri"/>
                <a:cs typeface="Calibri"/>
                <a:sym typeface="Calibri"/>
              </a:rPr>
              <a:t>500 (early stop)</a:t>
            </a:r>
            <a:endParaRPr sz="1150">
              <a:solidFill>
                <a:schemeClr val="dk1"/>
              </a:solidFill>
              <a:latin typeface="Calibri"/>
              <a:ea typeface="Calibri"/>
              <a:cs typeface="Calibri"/>
              <a:sym typeface="Calibri"/>
            </a:endParaRPr>
          </a:p>
        </p:txBody>
      </p:sp>
      <p:sp>
        <p:nvSpPr>
          <p:cNvPr id="211" name="Google Shape;211;p10"/>
          <p:cNvSpPr/>
          <p:nvPr/>
        </p:nvSpPr>
        <p:spPr>
          <a:xfrm>
            <a:off x="4709160" y="2286000"/>
            <a:ext cx="4160520" cy="1463040"/>
          </a:xfrm>
          <a:prstGeom prst="rect">
            <a:avLst/>
          </a:prstGeom>
          <a:solidFill>
            <a:srgbClr val="0D3D5C"/>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4709160" y="2286000"/>
            <a:ext cx="73152" cy="146304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4892040" y="233172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  Why scale_pos_weight matters</a:t>
            </a:r>
            <a:endParaRPr sz="1200">
              <a:solidFill>
                <a:schemeClr val="dk1"/>
              </a:solidFill>
              <a:latin typeface="Calibri"/>
              <a:ea typeface="Calibri"/>
              <a:cs typeface="Calibri"/>
              <a:sym typeface="Calibri"/>
            </a:endParaRPr>
          </a:p>
        </p:txBody>
      </p:sp>
      <p:sp>
        <p:nvSpPr>
          <p:cNvPr id="214" name="Google Shape;214;p10"/>
          <p:cNvSpPr/>
          <p:nvPr/>
        </p:nvSpPr>
        <p:spPr>
          <a:xfrm>
            <a:off x="4892040" y="2670048"/>
            <a:ext cx="3749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FF5"/>
              </a:buClr>
              <a:buSzPts val="1150"/>
              <a:buFont typeface="Calibri"/>
              <a:buNone/>
            </a:pPr>
            <a:r>
              <a:rPr lang="en-US" sz="1150">
                <a:solidFill>
                  <a:srgbClr val="E8EFF5"/>
                </a:solidFill>
                <a:latin typeface="Calibri"/>
                <a:ea typeface="Calibri"/>
                <a:cs typeface="Calibri"/>
                <a:sym typeface="Calibri"/>
              </a:rPr>
              <a:t>Without it, the model predicts 'no sepsis' for everything -achieving 98% accuracy while catching zero actual sepsis cases. Class weighting forces the model to pay attention to rare positive cases.</a:t>
            </a:r>
            <a:endParaRPr sz="1150">
              <a:solidFill>
                <a:schemeClr val="dk1"/>
              </a:solidFill>
              <a:latin typeface="Calibri"/>
              <a:ea typeface="Calibri"/>
              <a:cs typeface="Calibri"/>
              <a:sym typeface="Calibri"/>
            </a:endParaRPr>
          </a:p>
        </p:txBody>
      </p:sp>
      <p:sp>
        <p:nvSpPr>
          <p:cNvPr id="215" name="Google Shape;215;p10"/>
          <p:cNvSpPr/>
          <p:nvPr/>
        </p:nvSpPr>
        <p:spPr>
          <a:xfrm>
            <a:off x="320040" y="3913632"/>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320040" y="3913632"/>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502920" y="391363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Optuna found max_depth=5 and scale_pos_weight≈20 as the most impactful hyperparameters for this imbalanced clinical dataset</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2" name="Shape 222"/>
        <p:cNvGrpSpPr/>
        <p:nvPr/>
      </p:nvGrpSpPr>
      <p:grpSpPr>
        <a:xfrm>
          <a:off x="0" y="0"/>
          <a:ext cx="0" cy="0"/>
          <a:chOff x="0" y="0"/>
          <a:chExt cx="0" cy="0"/>
        </a:xfrm>
      </p:grpSpPr>
      <p:sp>
        <p:nvSpPr>
          <p:cNvPr id="223" name="Google Shape;223;p11"/>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Model performance - held-out test set (4,068 patients)</a:t>
            </a:r>
            <a:endParaRPr sz="2200">
              <a:solidFill>
                <a:schemeClr val="dk1"/>
              </a:solidFill>
              <a:latin typeface="Calibri"/>
              <a:ea typeface="Calibri"/>
              <a:cs typeface="Calibri"/>
              <a:sym typeface="Calibri"/>
            </a:endParaRPr>
          </a:p>
        </p:txBody>
      </p:sp>
      <p:graphicFrame>
        <p:nvGraphicFramePr>
          <p:cNvPr id="226" name="Google Shape;226;p11"/>
          <p:cNvGraphicFramePr/>
          <p:nvPr/>
        </p:nvGraphicFramePr>
        <p:xfrm>
          <a:off x="320040" y="822960"/>
          <a:ext cx="3000000" cy="3000000"/>
        </p:xfrm>
        <a:graphic>
          <a:graphicData uri="http://schemas.openxmlformats.org/drawingml/2006/table">
            <a:tbl>
              <a:tblPr>
                <a:noFill/>
                <a:tableStyleId>{00D3B43A-D0F3-4A23-B65A-EE9F6CF08B85}</a:tableStyleId>
              </a:tblPr>
              <a:tblGrid>
                <a:gridCol w="2377450"/>
                <a:gridCol w="1234450"/>
                <a:gridCol w="1234450"/>
                <a:gridCol w="1234450"/>
                <a:gridCol w="1234450"/>
                <a:gridCol w="1188725"/>
              </a:tblGrid>
              <a:tr h="4229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Model</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AUROC</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Sensitivity</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Specificity</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PR-AUC</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Target Met?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r>
              <a:tr h="422900">
                <a:tc>
                  <a:txBody>
                    <a:bodyPr/>
                    <a:lstStyle/>
                    <a:p>
                      <a:pPr indent="0" lvl="0" marL="0" marR="0" rtl="0" algn="l">
                        <a:spcBef>
                          <a:spcPts val="0"/>
                        </a:spcBef>
                        <a:spcAft>
                          <a:spcPts val="0"/>
                        </a:spcAft>
                        <a:buClr>
                          <a:srgbClr val="0A2342"/>
                        </a:buClr>
                        <a:buSzPts val="1200"/>
                        <a:buFont typeface="Calibri"/>
                        <a:buNone/>
                      </a:pPr>
                      <a:r>
                        <a:rPr b="1" lang="en-US" sz="1200" u="none" cap="none" strike="noStrike">
                          <a:solidFill>
                            <a:srgbClr val="0A2342"/>
                          </a:solidFill>
                        </a:rPr>
                        <a:t>XGBoost (primary)</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c>
                  <a:txBody>
                    <a:bodyPr/>
                    <a:lstStyle/>
                    <a:p>
                      <a:pPr indent="0" lvl="0" marL="0" marR="0" rtl="0" algn="ctr">
                        <a:spcBef>
                          <a:spcPts val="0"/>
                        </a:spcBef>
                        <a:spcAft>
                          <a:spcPts val="0"/>
                        </a:spcAft>
                        <a:buClr>
                          <a:srgbClr val="02C39A"/>
                        </a:buClr>
                        <a:buSzPts val="1600"/>
                        <a:buFont typeface="Calibri"/>
                        <a:buNone/>
                      </a:pPr>
                      <a:r>
                        <a:rPr b="1" lang="en-US" sz="1600" u="none" cap="none" strike="noStrike">
                          <a:solidFill>
                            <a:srgbClr val="02C39A"/>
                          </a:solidFill>
                        </a:rPr>
                        <a:t>0.81</a:t>
                      </a:r>
                      <a:endParaRPr sz="16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c>
                  <a:txBody>
                    <a:bodyPr/>
                    <a:lstStyle/>
                    <a:p>
                      <a:pPr indent="0" lvl="0" marL="0" marR="0" rtl="0" algn="ctr">
                        <a:spcBef>
                          <a:spcPts val="0"/>
                        </a:spcBef>
                        <a:spcAft>
                          <a:spcPts val="0"/>
                        </a:spcAft>
                        <a:buClr>
                          <a:srgbClr val="0A2342"/>
                        </a:buClr>
                        <a:buSzPts val="1200"/>
                        <a:buFont typeface="Calibri"/>
                        <a:buNone/>
                      </a:pPr>
                      <a:r>
                        <a:rPr lang="en-US" sz="1200" u="none" cap="none" strike="noStrike">
                          <a:solidFill>
                            <a:srgbClr val="0A2342"/>
                          </a:solidFill>
                        </a:rPr>
                        <a:t>71%</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c>
                  <a:txBody>
                    <a:bodyPr/>
                    <a:lstStyle/>
                    <a:p>
                      <a:pPr indent="0" lvl="0" marL="0" marR="0" rtl="0" algn="ctr">
                        <a:spcBef>
                          <a:spcPts val="0"/>
                        </a:spcBef>
                        <a:spcAft>
                          <a:spcPts val="0"/>
                        </a:spcAft>
                        <a:buClr>
                          <a:srgbClr val="0A2342"/>
                        </a:buClr>
                        <a:buSzPts val="1200"/>
                        <a:buFont typeface="Calibri"/>
                        <a:buNone/>
                      </a:pPr>
                      <a:r>
                        <a:rPr lang="en-US" sz="1200" u="none" cap="none" strike="noStrike">
                          <a:solidFill>
                            <a:srgbClr val="0A2342"/>
                          </a:solidFill>
                        </a:rPr>
                        <a:t>77%</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c>
                  <a:txBody>
                    <a:bodyPr/>
                    <a:lstStyle/>
                    <a:p>
                      <a:pPr indent="0" lvl="0" marL="0" marR="0" rtl="0" algn="ctr">
                        <a:spcBef>
                          <a:spcPts val="0"/>
                        </a:spcBef>
                        <a:spcAft>
                          <a:spcPts val="0"/>
                        </a:spcAft>
                        <a:buClr>
                          <a:srgbClr val="0A2342"/>
                        </a:buClr>
                        <a:buSzPts val="1200"/>
                        <a:buFont typeface="Calibri"/>
                        <a:buNone/>
                      </a:pPr>
                      <a:r>
                        <a:rPr lang="en-US" sz="1200" u="none" cap="none" strike="noStrike">
                          <a:solidFill>
                            <a:srgbClr val="0A2342"/>
                          </a:solidFill>
                        </a:rPr>
                        <a:t>0.10</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c>
                  <a:txBody>
                    <a:bodyPr/>
                    <a:lstStyle/>
                    <a:p>
                      <a:pPr indent="0" lvl="0" marL="0" marR="0" rtl="0" algn="ctr">
                        <a:spcBef>
                          <a:spcPts val="0"/>
                        </a:spcBef>
                        <a:spcAft>
                          <a:spcPts val="0"/>
                        </a:spcAft>
                        <a:buClr>
                          <a:srgbClr val="1A7A4A"/>
                        </a:buClr>
                        <a:buSzPts val="1200"/>
                        <a:buFont typeface="Calibri"/>
                        <a:buNone/>
                      </a:pPr>
                      <a:r>
                        <a:rPr b="1" lang="en-US" sz="1200" u="none" cap="none" strike="noStrike">
                          <a:solidFill>
                            <a:srgbClr val="1A7A4A"/>
                          </a:solidFill>
                        </a:rPr>
                        <a:t>✅ Yes</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E8F8F5"/>
                    </a:solidFill>
                  </a:tcPr>
                </a:tc>
              </a:tr>
              <a:tr h="422900">
                <a:tc>
                  <a:txBody>
                    <a:bodyPr/>
                    <a:lstStyle/>
                    <a:p>
                      <a:pPr indent="0" lvl="0" marL="0" marR="0" rtl="0" algn="l">
                        <a:spcBef>
                          <a:spcPts val="0"/>
                        </a:spcBef>
                        <a:spcAft>
                          <a:spcPts val="0"/>
                        </a:spcAft>
                        <a:buClr>
                          <a:srgbClr val="0A2342"/>
                        </a:buClr>
                        <a:buSzPts val="1200"/>
                        <a:buFont typeface="Calibri"/>
                        <a:buNone/>
                      </a:pPr>
                      <a:r>
                        <a:rPr lang="en-US" sz="1200" u="none" cap="none" strike="noStrike">
                          <a:solidFill>
                            <a:srgbClr val="0A2342"/>
                          </a:solidFill>
                        </a:rPr>
                        <a:t>Logistic Regression</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c>
                  <a:txBody>
                    <a:bodyPr/>
                    <a:lstStyle/>
                    <a:p>
                      <a:pPr indent="0" lvl="0" marL="0" marR="0" rtl="0" algn="ctr">
                        <a:spcBef>
                          <a:spcPts val="0"/>
                        </a:spcBef>
                        <a:spcAft>
                          <a:spcPts val="0"/>
                        </a:spcAft>
                        <a:buClr>
                          <a:srgbClr val="2D4A6B"/>
                        </a:buClr>
                        <a:buSzPts val="1200"/>
                        <a:buFont typeface="Calibri"/>
                        <a:buNone/>
                      </a:pPr>
                      <a:r>
                        <a:rPr lang="en-US" sz="1200" u="none" cap="none" strike="noStrike">
                          <a:solidFill>
                            <a:srgbClr val="2D4A6B"/>
                          </a:solidFill>
                        </a:rPr>
                        <a:t>0.72</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c>
                  <a:txBody>
                    <a:bodyPr/>
                    <a:lstStyle/>
                    <a:p>
                      <a:pPr indent="0" lvl="0" marL="0" marR="0" rtl="0" algn="ctr">
                        <a:spcBef>
                          <a:spcPts val="0"/>
                        </a:spcBef>
                        <a:spcAft>
                          <a:spcPts val="0"/>
                        </a:spcAft>
                        <a:buClr>
                          <a:srgbClr val="2D4A6B"/>
                        </a:buClr>
                        <a:buSzPts val="1200"/>
                        <a:buFont typeface="Calibri"/>
                        <a:buNone/>
                      </a:pPr>
                      <a:r>
                        <a:rPr lang="en-US" sz="1200" u="none" cap="none" strike="noStrike">
                          <a:solidFill>
                            <a:srgbClr val="2D4A6B"/>
                          </a:solidFill>
                        </a:rPr>
                        <a:t>55%</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c>
                  <a:txBody>
                    <a:bodyPr/>
                    <a:lstStyle/>
                    <a:p>
                      <a:pPr indent="0" lvl="0" marL="0" marR="0" rtl="0" algn="ctr">
                        <a:spcBef>
                          <a:spcPts val="0"/>
                        </a:spcBef>
                        <a:spcAft>
                          <a:spcPts val="0"/>
                        </a:spcAft>
                        <a:buClr>
                          <a:srgbClr val="2D4A6B"/>
                        </a:buClr>
                        <a:buSzPts val="1200"/>
                        <a:buFont typeface="Calibri"/>
                        <a:buNone/>
                      </a:pPr>
                      <a:r>
                        <a:rPr lang="en-US" sz="1200" u="none" cap="none" strike="noStrike">
                          <a:solidFill>
                            <a:srgbClr val="2D4A6B"/>
                          </a:solidFill>
                        </a:rPr>
                        <a:t>80%</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c>
                  <a:txBody>
                    <a:bodyPr/>
                    <a:lstStyle/>
                    <a:p>
                      <a:pPr indent="0" lvl="0" marL="0" marR="0" rtl="0" algn="ctr">
                        <a:spcBef>
                          <a:spcPts val="0"/>
                        </a:spcBef>
                        <a:spcAft>
                          <a:spcPts val="0"/>
                        </a:spcAft>
                        <a:buClr>
                          <a:srgbClr val="2D4A6B"/>
                        </a:buClr>
                        <a:buSzPts val="1200"/>
                        <a:buFont typeface="Calibri"/>
                        <a:buNone/>
                      </a:pPr>
                      <a:r>
                        <a:rPr lang="en-US" sz="1200" u="none" cap="none" strike="noStrike">
                          <a:solidFill>
                            <a:srgbClr val="2D4A6B"/>
                          </a:solidFill>
                        </a:rPr>
                        <a:t>0.07</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200"/>
                        <a:buFont typeface="Calibri"/>
                        <a:buNone/>
                      </a:pPr>
                      <a:r>
                        <a:rPr b="1" lang="en-US" sz="1200" u="none" cap="none" strike="noStrike">
                          <a:solidFill>
                            <a:srgbClr val="C0392B"/>
                          </a:solidFill>
                        </a:rPr>
                        <a:t>❌ No</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tcPr>
                </a:tc>
              </a:tr>
              <a:tr h="422900">
                <a:tc>
                  <a:txBody>
                    <a:bodyPr/>
                    <a:lstStyle/>
                    <a:p>
                      <a:pPr indent="0" lvl="0" marL="0" marR="0" rtl="0" algn="l">
                        <a:spcBef>
                          <a:spcPts val="0"/>
                        </a:spcBef>
                        <a:spcAft>
                          <a:spcPts val="0"/>
                        </a:spcAft>
                        <a:buClr>
                          <a:srgbClr val="02C39A"/>
                        </a:buClr>
                        <a:buSzPts val="1200"/>
                        <a:buFont typeface="Calibri"/>
                        <a:buNone/>
                      </a:pPr>
                      <a:r>
                        <a:rPr b="1" lang="en-US" sz="1200" u="none" cap="none" strike="noStrike">
                          <a:solidFill>
                            <a:srgbClr val="02C39A"/>
                          </a:solidFill>
                        </a:rPr>
                        <a:t>Target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02C39A"/>
                        </a:buClr>
                        <a:buSzPts val="1200"/>
                        <a:buFont typeface="Calibri"/>
                        <a:buNone/>
                      </a:pPr>
                      <a:r>
                        <a:rPr b="1" lang="en-US" sz="1200" u="none" cap="none" strike="noStrike">
                          <a:solidFill>
                            <a:srgbClr val="02C39A"/>
                          </a:solidFill>
                        </a:rPr>
                        <a:t>&gt; 0.75</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E8EFF5"/>
                        </a:buClr>
                        <a:buSzPts val="1200"/>
                        <a:buFont typeface="Calibri"/>
                        <a:buNone/>
                      </a:pPr>
                      <a:r>
                        <a:rPr lang="en-US" sz="1200" u="none" cap="none" strike="noStrike">
                          <a:solidFill>
                            <a:srgbClr val="E8EFF5"/>
                          </a:solidFill>
                        </a:rPr>
                        <a: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E8EFF5"/>
                        </a:buClr>
                        <a:buSzPts val="1200"/>
                        <a:buFont typeface="Calibri"/>
                        <a:buNone/>
                      </a:pPr>
                      <a:r>
                        <a:rPr lang="en-US" sz="1200" u="none" cap="none" strike="noStrike">
                          <a:solidFill>
                            <a:srgbClr val="E8EFF5"/>
                          </a:solidFill>
                        </a:rPr>
                        <a: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E8EFF5"/>
                        </a:buClr>
                        <a:buSzPts val="1200"/>
                        <a:buFont typeface="Calibri"/>
                        <a:buNone/>
                      </a:pPr>
                      <a:r>
                        <a:rPr lang="en-US" sz="1200" u="none" cap="none" strike="noStrike">
                          <a:solidFill>
                            <a:srgbClr val="E8EFF5"/>
                          </a:solidFill>
                        </a:rPr>
                        <a: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E8EFF5"/>
                        </a:buClr>
                        <a:buSzPts val="1200"/>
                        <a:buFont typeface="Calibri"/>
                        <a:buNone/>
                      </a:pPr>
                      <a:r>
                        <a:rPr lang="en-US" sz="1200" u="none" cap="none" strike="noStrike">
                          <a:solidFill>
                            <a:srgbClr val="E8EFF5"/>
                          </a:solidFill>
                        </a:rPr>
                        <a:t>—</a:t>
                      </a:r>
                      <a:endParaRPr sz="1200" u="none" cap="none" strike="noStrike"/>
                    </a:p>
                  </a:txBody>
                  <a:tcPr marT="45725" marB="45725" marR="91450" marL="91450">
                    <a:lnL cap="flat" cmpd="sng" w="9525">
                      <a:solidFill>
                        <a:srgbClr val="C5D5E8"/>
                      </a:solidFill>
                      <a:prstDash val="solid"/>
                      <a:round/>
                      <a:headEnd len="sm" w="sm" type="none"/>
                      <a:tailEnd len="sm" w="sm" type="none"/>
                    </a:lnL>
                    <a:lnR cap="flat" cmpd="sng" w="9525">
                      <a:solidFill>
                        <a:srgbClr val="C5D5E8"/>
                      </a:solidFill>
                      <a:prstDash val="solid"/>
                      <a:round/>
                      <a:headEnd len="sm" w="sm" type="none"/>
                      <a:tailEnd len="sm" w="sm" type="none"/>
                    </a:lnR>
                    <a:lnT cap="flat" cmpd="sng" w="9525">
                      <a:solidFill>
                        <a:srgbClr val="C5D5E8"/>
                      </a:solidFill>
                      <a:prstDash val="solid"/>
                      <a:round/>
                      <a:headEnd len="sm" w="sm" type="none"/>
                      <a:tailEnd len="sm" w="sm" type="none"/>
                    </a:lnT>
                    <a:lnB cap="flat" cmpd="sng" w="9525">
                      <a:solidFill>
                        <a:srgbClr val="C5D5E8"/>
                      </a:solidFill>
                      <a:prstDash val="solid"/>
                      <a:round/>
                      <a:headEnd len="sm" w="sm" type="none"/>
                      <a:tailEnd len="sm" w="sm" type="none"/>
                    </a:lnB>
                    <a:solidFill>
                      <a:srgbClr val="0A2342"/>
                    </a:solidFill>
                  </a:tcPr>
                </a:tc>
              </a:tr>
            </a:tbl>
          </a:graphicData>
        </a:graphic>
      </p:graphicFrame>
      <p:sp>
        <p:nvSpPr>
          <p:cNvPr id="227" name="Google Shape;227;p11"/>
          <p:cNvSpPr/>
          <p:nvPr/>
        </p:nvSpPr>
        <p:spPr>
          <a:xfrm>
            <a:off x="365760" y="2670048"/>
            <a:ext cx="841248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ROC curve: XGBoost AUROC 0.81 vs LR 0.72 - both well above random baseline</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PR-AUC 0.10 looks low, but baseline is 0.017 - model is 6× better than random (expected with 1.8% positive rate)</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Confusion matrix at threshold 0.14: correctly identifies 3,736 of 5,247 sepsis cases (71% sensitivity)</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False alarms trigger a blood test; a missed sepsis case can be fatal - high sensitivity intentionally prioritized</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Hospitals can adjust the decision threshold to match their tolerance for false alarms</a:t>
            </a:r>
            <a:endParaRPr sz="1250">
              <a:solidFill>
                <a:schemeClr val="dk1"/>
              </a:solidFill>
              <a:latin typeface="Calibri"/>
              <a:ea typeface="Calibri"/>
              <a:cs typeface="Calibri"/>
              <a:sym typeface="Calibri"/>
            </a:endParaRPr>
          </a:p>
        </p:txBody>
      </p:sp>
      <p:sp>
        <p:nvSpPr>
          <p:cNvPr id="228" name="Google Shape;228;p11"/>
          <p:cNvSpPr/>
          <p:nvPr/>
        </p:nvSpPr>
        <p:spPr>
          <a:xfrm>
            <a:off x="320040" y="4636008"/>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320040" y="4636008"/>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502920" y="463600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AUROC 0.81 — 13% relative improvement over Logistic Regression, exceeds clinical utility target of 0.75</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34" name="Shape 234"/>
        <p:cNvGrpSpPr/>
        <p:nvPr/>
      </p:nvGrpSpPr>
      <p:grpSpPr>
        <a:xfrm>
          <a:off x="0" y="0"/>
          <a:ext cx="0" cy="0"/>
          <a:chOff x="0" y="0"/>
          <a:chExt cx="0" cy="0"/>
        </a:xfrm>
      </p:grpSpPr>
      <p:sp>
        <p:nvSpPr>
          <p:cNvPr id="235" name="Google Shape;235;p12"/>
          <p:cNvSpPr/>
          <p:nvPr/>
        </p:nvSpPr>
        <p:spPr>
          <a:xfrm>
            <a:off x="0" y="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320040" y="164592"/>
            <a:ext cx="8503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SHAP explainability - why this prediction?</a:t>
            </a:r>
            <a:endParaRPr sz="2200">
              <a:solidFill>
                <a:schemeClr val="dk1"/>
              </a:solidFill>
              <a:latin typeface="Calibri"/>
              <a:ea typeface="Calibri"/>
              <a:cs typeface="Calibri"/>
              <a:sym typeface="Calibri"/>
            </a:endParaRPr>
          </a:p>
        </p:txBody>
      </p:sp>
      <p:sp>
        <p:nvSpPr>
          <p:cNvPr id="237" name="Google Shape;237;p12"/>
          <p:cNvSpPr/>
          <p:nvPr/>
        </p:nvSpPr>
        <p:spPr>
          <a:xfrm>
            <a:off x="228600" y="777240"/>
            <a:ext cx="4023360" cy="4160520"/>
          </a:xfrm>
          <a:prstGeom prst="rect">
            <a:avLst/>
          </a:prstGeom>
          <a:solidFill>
            <a:srgbClr val="0F203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411480" y="941832"/>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lang="en-US" sz="1000">
                <a:solidFill>
                  <a:srgbClr val="02C39A"/>
                </a:solidFill>
                <a:latin typeface="Calibri"/>
                <a:ea typeface="Calibri"/>
                <a:cs typeface="Calibri"/>
                <a:sym typeface="Calibri"/>
              </a:rPr>
              <a:t>PER-PATIENT FEATURE CONTRIBUTIONS</a:t>
            </a:r>
            <a:endParaRPr sz="1000">
              <a:solidFill>
                <a:schemeClr val="dk1"/>
              </a:solidFill>
              <a:latin typeface="Calibri"/>
              <a:ea typeface="Calibri"/>
              <a:cs typeface="Calibri"/>
              <a:sym typeface="Calibri"/>
            </a:endParaRPr>
          </a:p>
        </p:txBody>
      </p:sp>
      <p:sp>
        <p:nvSpPr>
          <p:cNvPr id="239" name="Google Shape;239;p12"/>
          <p:cNvSpPr/>
          <p:nvPr/>
        </p:nvSpPr>
        <p:spPr>
          <a:xfrm>
            <a:off x="411480" y="1289304"/>
            <a:ext cx="164592" cy="128016"/>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12648" y="1271016"/>
            <a:ext cx="10972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B8D0"/>
              </a:buClr>
              <a:buSzPts val="950"/>
              <a:buFont typeface="Calibri"/>
              <a:buNone/>
            </a:pPr>
            <a:r>
              <a:rPr lang="en-US" sz="950">
                <a:solidFill>
                  <a:srgbClr val="8BB8D0"/>
                </a:solidFill>
                <a:latin typeface="Calibri"/>
                <a:ea typeface="Calibri"/>
                <a:cs typeface="Calibri"/>
                <a:sym typeface="Calibri"/>
              </a:rPr>
              <a:t>Increases risk</a:t>
            </a:r>
            <a:endParaRPr sz="950">
              <a:solidFill>
                <a:schemeClr val="dk1"/>
              </a:solidFill>
              <a:latin typeface="Calibri"/>
              <a:ea typeface="Calibri"/>
              <a:cs typeface="Calibri"/>
              <a:sym typeface="Calibri"/>
            </a:endParaRPr>
          </a:p>
        </p:txBody>
      </p:sp>
      <p:sp>
        <p:nvSpPr>
          <p:cNvPr id="241" name="Google Shape;241;p12"/>
          <p:cNvSpPr/>
          <p:nvPr/>
        </p:nvSpPr>
        <p:spPr>
          <a:xfrm>
            <a:off x="1828800" y="1289304"/>
            <a:ext cx="164592" cy="128016"/>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2029968" y="1271016"/>
            <a:ext cx="10972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B8D0"/>
              </a:buClr>
              <a:buSzPts val="950"/>
              <a:buFont typeface="Calibri"/>
              <a:buNone/>
            </a:pPr>
            <a:r>
              <a:rPr lang="en-US" sz="950">
                <a:solidFill>
                  <a:srgbClr val="8BB8D0"/>
                </a:solidFill>
                <a:latin typeface="Calibri"/>
                <a:ea typeface="Calibri"/>
                <a:cs typeface="Calibri"/>
                <a:sym typeface="Calibri"/>
              </a:rPr>
              <a:t>Decreases risk</a:t>
            </a:r>
            <a:endParaRPr sz="950">
              <a:solidFill>
                <a:schemeClr val="dk1"/>
              </a:solidFill>
              <a:latin typeface="Calibri"/>
              <a:ea typeface="Calibri"/>
              <a:cs typeface="Calibri"/>
              <a:sym typeface="Calibri"/>
            </a:endParaRPr>
          </a:p>
        </p:txBody>
      </p:sp>
      <p:sp>
        <p:nvSpPr>
          <p:cNvPr id="243" name="Google Shape;243;p12"/>
          <p:cNvSpPr/>
          <p:nvPr/>
        </p:nvSpPr>
        <p:spPr>
          <a:xfrm>
            <a:off x="393192" y="1618488"/>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ICULOS</a:t>
            </a:r>
            <a:endParaRPr sz="1100">
              <a:solidFill>
                <a:schemeClr val="dk1"/>
              </a:solidFill>
              <a:latin typeface="Calibri"/>
              <a:ea typeface="Calibri"/>
              <a:cs typeface="Calibri"/>
              <a:sym typeface="Calibri"/>
            </a:endParaRPr>
          </a:p>
        </p:txBody>
      </p:sp>
      <p:sp>
        <p:nvSpPr>
          <p:cNvPr id="244" name="Google Shape;244;p12"/>
          <p:cNvSpPr/>
          <p:nvPr/>
        </p:nvSpPr>
        <p:spPr>
          <a:xfrm>
            <a:off x="1307592" y="1618488"/>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1307592" y="1618488"/>
            <a:ext cx="192024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1353312" y="1618488"/>
            <a:ext cx="18745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+0.21</a:t>
            </a:r>
            <a:endParaRPr sz="1000">
              <a:solidFill>
                <a:schemeClr val="dk1"/>
              </a:solidFill>
              <a:latin typeface="Calibri"/>
              <a:ea typeface="Calibri"/>
              <a:cs typeface="Calibri"/>
              <a:sym typeface="Calibri"/>
            </a:endParaRPr>
          </a:p>
        </p:txBody>
      </p:sp>
      <p:sp>
        <p:nvSpPr>
          <p:cNvPr id="247" name="Google Shape;247;p12"/>
          <p:cNvSpPr/>
          <p:nvPr/>
        </p:nvSpPr>
        <p:spPr>
          <a:xfrm>
            <a:off x="393192" y="1947672"/>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Lactate</a:t>
            </a:r>
            <a:endParaRPr sz="1100">
              <a:solidFill>
                <a:schemeClr val="dk1"/>
              </a:solidFill>
              <a:latin typeface="Calibri"/>
              <a:ea typeface="Calibri"/>
              <a:cs typeface="Calibri"/>
              <a:sym typeface="Calibri"/>
            </a:endParaRPr>
          </a:p>
        </p:txBody>
      </p:sp>
      <p:sp>
        <p:nvSpPr>
          <p:cNvPr id="248" name="Google Shape;248;p12"/>
          <p:cNvSpPr/>
          <p:nvPr/>
        </p:nvSpPr>
        <p:spPr>
          <a:xfrm>
            <a:off x="1307592" y="1947672"/>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1307592" y="1947672"/>
            <a:ext cx="146304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1353312" y="1947672"/>
            <a:ext cx="14173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+0.16</a:t>
            </a:r>
            <a:endParaRPr sz="1000">
              <a:solidFill>
                <a:schemeClr val="dk1"/>
              </a:solidFill>
              <a:latin typeface="Calibri"/>
              <a:ea typeface="Calibri"/>
              <a:cs typeface="Calibri"/>
              <a:sym typeface="Calibri"/>
            </a:endParaRPr>
          </a:p>
        </p:txBody>
      </p:sp>
      <p:sp>
        <p:nvSpPr>
          <p:cNvPr id="251" name="Google Shape;251;p12"/>
          <p:cNvSpPr/>
          <p:nvPr/>
        </p:nvSpPr>
        <p:spPr>
          <a:xfrm>
            <a:off x="393192" y="2276856"/>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Temp</a:t>
            </a:r>
            <a:endParaRPr sz="1100">
              <a:solidFill>
                <a:schemeClr val="dk1"/>
              </a:solidFill>
              <a:latin typeface="Calibri"/>
              <a:ea typeface="Calibri"/>
              <a:cs typeface="Calibri"/>
              <a:sym typeface="Calibri"/>
            </a:endParaRPr>
          </a:p>
        </p:txBody>
      </p:sp>
      <p:sp>
        <p:nvSpPr>
          <p:cNvPr id="252" name="Google Shape;252;p12"/>
          <p:cNvSpPr/>
          <p:nvPr/>
        </p:nvSpPr>
        <p:spPr>
          <a:xfrm>
            <a:off x="1307592" y="2276856"/>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1307592" y="2276856"/>
            <a:ext cx="118872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1353312" y="2276856"/>
            <a:ext cx="11430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+0.13</a:t>
            </a:r>
            <a:endParaRPr sz="1000">
              <a:solidFill>
                <a:schemeClr val="dk1"/>
              </a:solidFill>
              <a:latin typeface="Calibri"/>
              <a:ea typeface="Calibri"/>
              <a:cs typeface="Calibri"/>
              <a:sym typeface="Calibri"/>
            </a:endParaRPr>
          </a:p>
        </p:txBody>
      </p:sp>
      <p:sp>
        <p:nvSpPr>
          <p:cNvPr id="255" name="Google Shape;255;p12"/>
          <p:cNvSpPr/>
          <p:nvPr/>
        </p:nvSpPr>
        <p:spPr>
          <a:xfrm>
            <a:off x="393192" y="2606040"/>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Resp_roll3</a:t>
            </a:r>
            <a:endParaRPr sz="1100">
              <a:solidFill>
                <a:schemeClr val="dk1"/>
              </a:solidFill>
              <a:latin typeface="Calibri"/>
              <a:ea typeface="Calibri"/>
              <a:cs typeface="Calibri"/>
              <a:sym typeface="Calibri"/>
            </a:endParaRPr>
          </a:p>
        </p:txBody>
      </p:sp>
      <p:sp>
        <p:nvSpPr>
          <p:cNvPr id="256" name="Google Shape;256;p12"/>
          <p:cNvSpPr/>
          <p:nvPr/>
        </p:nvSpPr>
        <p:spPr>
          <a:xfrm>
            <a:off x="1307592" y="2606040"/>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1307592" y="2606040"/>
            <a:ext cx="100584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1353312" y="2606040"/>
            <a:ext cx="9601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+0.11</a:t>
            </a:r>
            <a:endParaRPr sz="1000">
              <a:solidFill>
                <a:schemeClr val="dk1"/>
              </a:solidFill>
              <a:latin typeface="Calibri"/>
              <a:ea typeface="Calibri"/>
              <a:cs typeface="Calibri"/>
              <a:sym typeface="Calibri"/>
            </a:endParaRPr>
          </a:p>
        </p:txBody>
      </p:sp>
      <p:sp>
        <p:nvSpPr>
          <p:cNvPr id="259" name="Google Shape;259;p12"/>
          <p:cNvSpPr/>
          <p:nvPr/>
        </p:nvSpPr>
        <p:spPr>
          <a:xfrm>
            <a:off x="393192" y="2935224"/>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HR</a:t>
            </a:r>
            <a:endParaRPr sz="1100">
              <a:solidFill>
                <a:schemeClr val="dk1"/>
              </a:solidFill>
              <a:latin typeface="Calibri"/>
              <a:ea typeface="Calibri"/>
              <a:cs typeface="Calibri"/>
              <a:sym typeface="Calibri"/>
            </a:endParaRPr>
          </a:p>
        </p:txBody>
      </p:sp>
      <p:sp>
        <p:nvSpPr>
          <p:cNvPr id="260" name="Google Shape;260;p12"/>
          <p:cNvSpPr/>
          <p:nvPr/>
        </p:nvSpPr>
        <p:spPr>
          <a:xfrm>
            <a:off x="1307592" y="2935224"/>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1307592" y="2935224"/>
            <a:ext cx="73152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1353312" y="2935224"/>
            <a:ext cx="685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+0.08</a:t>
            </a:r>
            <a:endParaRPr sz="1000">
              <a:solidFill>
                <a:schemeClr val="dk1"/>
              </a:solidFill>
              <a:latin typeface="Calibri"/>
              <a:ea typeface="Calibri"/>
              <a:cs typeface="Calibri"/>
              <a:sym typeface="Calibri"/>
            </a:endParaRPr>
          </a:p>
        </p:txBody>
      </p:sp>
      <p:sp>
        <p:nvSpPr>
          <p:cNvPr id="263" name="Google Shape;263;p12"/>
          <p:cNvSpPr/>
          <p:nvPr/>
        </p:nvSpPr>
        <p:spPr>
          <a:xfrm>
            <a:off x="393192" y="3264408"/>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Creatinine</a:t>
            </a:r>
            <a:endParaRPr sz="1100">
              <a:solidFill>
                <a:schemeClr val="dk1"/>
              </a:solidFill>
              <a:latin typeface="Calibri"/>
              <a:ea typeface="Calibri"/>
              <a:cs typeface="Calibri"/>
              <a:sym typeface="Calibri"/>
            </a:endParaRPr>
          </a:p>
        </p:txBody>
      </p:sp>
      <p:sp>
        <p:nvSpPr>
          <p:cNvPr id="264" name="Google Shape;264;p12"/>
          <p:cNvSpPr/>
          <p:nvPr/>
        </p:nvSpPr>
        <p:spPr>
          <a:xfrm>
            <a:off x="1307592" y="3264408"/>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2"/>
          <p:cNvSpPr/>
          <p:nvPr/>
        </p:nvSpPr>
        <p:spPr>
          <a:xfrm>
            <a:off x="1307592" y="3264408"/>
            <a:ext cx="457200" cy="246888"/>
          </a:xfrm>
          <a:prstGeom prst="rect">
            <a:avLst/>
          </a:prstGeom>
          <a:solidFill>
            <a:srgbClr val="E8553E"/>
          </a:solidFill>
          <a:ln cap="flat" cmpd="sng" w="12700">
            <a:solidFill>
              <a:srgbClr val="E855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1353312" y="3264408"/>
            <a:ext cx="5029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+0.05</a:t>
            </a:r>
            <a:endParaRPr sz="1000">
              <a:solidFill>
                <a:schemeClr val="dk1"/>
              </a:solidFill>
              <a:latin typeface="Calibri"/>
              <a:ea typeface="Calibri"/>
              <a:cs typeface="Calibri"/>
              <a:sym typeface="Calibri"/>
            </a:endParaRPr>
          </a:p>
        </p:txBody>
      </p:sp>
      <p:sp>
        <p:nvSpPr>
          <p:cNvPr id="267" name="Google Shape;267;p12"/>
          <p:cNvSpPr/>
          <p:nvPr/>
        </p:nvSpPr>
        <p:spPr>
          <a:xfrm>
            <a:off x="393192" y="3593592"/>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MAP</a:t>
            </a:r>
            <a:endParaRPr sz="1100">
              <a:solidFill>
                <a:schemeClr val="dk1"/>
              </a:solidFill>
              <a:latin typeface="Calibri"/>
              <a:ea typeface="Calibri"/>
              <a:cs typeface="Calibri"/>
              <a:sym typeface="Calibri"/>
            </a:endParaRPr>
          </a:p>
        </p:txBody>
      </p:sp>
      <p:sp>
        <p:nvSpPr>
          <p:cNvPr id="268" name="Google Shape;268;p12"/>
          <p:cNvSpPr/>
          <p:nvPr/>
        </p:nvSpPr>
        <p:spPr>
          <a:xfrm>
            <a:off x="1307592" y="3593592"/>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1307592" y="3593592"/>
            <a:ext cx="640080" cy="246888"/>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1353312" y="3593592"/>
            <a:ext cx="5943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-0.07</a:t>
            </a:r>
            <a:endParaRPr sz="1000">
              <a:solidFill>
                <a:schemeClr val="dk1"/>
              </a:solidFill>
              <a:latin typeface="Calibri"/>
              <a:ea typeface="Calibri"/>
              <a:cs typeface="Calibri"/>
              <a:sym typeface="Calibri"/>
            </a:endParaRPr>
          </a:p>
        </p:txBody>
      </p:sp>
      <p:sp>
        <p:nvSpPr>
          <p:cNvPr id="271" name="Google Shape;271;p12"/>
          <p:cNvSpPr/>
          <p:nvPr/>
        </p:nvSpPr>
        <p:spPr>
          <a:xfrm>
            <a:off x="393192" y="3922776"/>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O2Sat</a:t>
            </a:r>
            <a:endParaRPr sz="1100">
              <a:solidFill>
                <a:schemeClr val="dk1"/>
              </a:solidFill>
              <a:latin typeface="Calibri"/>
              <a:ea typeface="Calibri"/>
              <a:cs typeface="Calibri"/>
              <a:sym typeface="Calibri"/>
            </a:endParaRPr>
          </a:p>
        </p:txBody>
      </p:sp>
      <p:sp>
        <p:nvSpPr>
          <p:cNvPr id="272" name="Google Shape;272;p12"/>
          <p:cNvSpPr/>
          <p:nvPr/>
        </p:nvSpPr>
        <p:spPr>
          <a:xfrm>
            <a:off x="1307592" y="3922776"/>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1307592" y="3922776"/>
            <a:ext cx="365760" cy="246888"/>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1353312" y="3922776"/>
            <a:ext cx="5029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-0.04</a:t>
            </a:r>
            <a:endParaRPr sz="1000">
              <a:solidFill>
                <a:schemeClr val="dk1"/>
              </a:solidFill>
              <a:latin typeface="Calibri"/>
              <a:ea typeface="Calibri"/>
              <a:cs typeface="Calibri"/>
              <a:sym typeface="Calibri"/>
            </a:endParaRPr>
          </a:p>
        </p:txBody>
      </p:sp>
      <p:sp>
        <p:nvSpPr>
          <p:cNvPr id="275" name="Google Shape;275;p12"/>
          <p:cNvSpPr/>
          <p:nvPr/>
        </p:nvSpPr>
        <p:spPr>
          <a:xfrm>
            <a:off x="393192" y="4251960"/>
            <a:ext cx="8686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SBP</a:t>
            </a:r>
            <a:endParaRPr sz="1100">
              <a:solidFill>
                <a:schemeClr val="dk1"/>
              </a:solidFill>
              <a:latin typeface="Calibri"/>
              <a:ea typeface="Calibri"/>
              <a:cs typeface="Calibri"/>
              <a:sym typeface="Calibri"/>
            </a:endParaRPr>
          </a:p>
        </p:txBody>
      </p:sp>
      <p:sp>
        <p:nvSpPr>
          <p:cNvPr id="276" name="Google Shape;276;p12"/>
          <p:cNvSpPr/>
          <p:nvPr/>
        </p:nvSpPr>
        <p:spPr>
          <a:xfrm>
            <a:off x="1307592" y="4251960"/>
            <a:ext cx="1920240" cy="246888"/>
          </a:xfrm>
          <a:prstGeom prst="rect">
            <a:avLst/>
          </a:prstGeom>
          <a:solidFill>
            <a:srgbClr val="1C3550"/>
          </a:solidFill>
          <a:ln cap="flat" cmpd="sng" w="12700">
            <a:solidFill>
              <a:srgbClr val="1C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1307592" y="4251960"/>
            <a:ext cx="274320" cy="246888"/>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1353312" y="4251960"/>
            <a:ext cx="5029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-0.03</a:t>
            </a:r>
            <a:endParaRPr sz="1000">
              <a:solidFill>
                <a:schemeClr val="dk1"/>
              </a:solidFill>
              <a:latin typeface="Calibri"/>
              <a:ea typeface="Calibri"/>
              <a:cs typeface="Calibri"/>
              <a:sym typeface="Calibri"/>
            </a:endParaRPr>
          </a:p>
        </p:txBody>
      </p:sp>
      <p:sp>
        <p:nvSpPr>
          <p:cNvPr id="279" name="Google Shape;279;p12"/>
          <p:cNvSpPr/>
          <p:nvPr/>
        </p:nvSpPr>
        <p:spPr>
          <a:xfrm>
            <a:off x="4480560" y="777240"/>
            <a:ext cx="4434840" cy="2148840"/>
          </a:xfrm>
          <a:prstGeom prst="rect">
            <a:avLst/>
          </a:prstGeom>
          <a:solidFill>
            <a:srgbClr val="11224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4663440" y="914400"/>
            <a:ext cx="4160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lang="en-US" sz="1000">
                <a:solidFill>
                  <a:srgbClr val="02C39A"/>
                </a:solidFill>
                <a:latin typeface="Calibri"/>
                <a:ea typeface="Calibri"/>
                <a:cs typeface="Calibri"/>
                <a:sym typeface="Calibri"/>
              </a:rPr>
              <a:t>WHAT SHAP DOES</a:t>
            </a:r>
            <a:endParaRPr sz="1000">
              <a:solidFill>
                <a:schemeClr val="dk1"/>
              </a:solidFill>
              <a:latin typeface="Calibri"/>
              <a:ea typeface="Calibri"/>
              <a:cs typeface="Calibri"/>
              <a:sym typeface="Calibri"/>
            </a:endParaRPr>
          </a:p>
        </p:txBody>
      </p:sp>
      <p:sp>
        <p:nvSpPr>
          <p:cNvPr id="281" name="Google Shape;281;p12"/>
          <p:cNvSpPr/>
          <p:nvPr/>
        </p:nvSpPr>
        <p:spPr>
          <a:xfrm>
            <a:off x="4663440" y="1280160"/>
            <a:ext cx="36576" cy="29260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4773168" y="1252728"/>
            <a:ext cx="399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Assigns each feature a contribution score for every individual prediction - not just globally</a:t>
            </a:r>
            <a:endParaRPr sz="1100">
              <a:solidFill>
                <a:schemeClr val="dk1"/>
              </a:solidFill>
              <a:latin typeface="Calibri"/>
              <a:ea typeface="Calibri"/>
              <a:cs typeface="Calibri"/>
              <a:sym typeface="Calibri"/>
            </a:endParaRPr>
          </a:p>
        </p:txBody>
      </p:sp>
      <p:sp>
        <p:nvSpPr>
          <p:cNvPr id="283" name="Google Shape;283;p12"/>
          <p:cNvSpPr/>
          <p:nvPr/>
        </p:nvSpPr>
        <p:spPr>
          <a:xfrm>
            <a:off x="4663440" y="1673352"/>
            <a:ext cx="36576" cy="29260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4773168" y="1645920"/>
            <a:ext cx="39959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Positive value = pushes the risk score up; negative = pulls it down</a:t>
            </a:r>
            <a:endParaRPr sz="1100">
              <a:solidFill>
                <a:schemeClr val="dk1"/>
              </a:solidFill>
              <a:latin typeface="Calibri"/>
              <a:ea typeface="Calibri"/>
              <a:cs typeface="Calibri"/>
              <a:sym typeface="Calibri"/>
            </a:endParaRPr>
          </a:p>
        </p:txBody>
      </p:sp>
      <p:sp>
        <p:nvSpPr>
          <p:cNvPr id="285" name="Google Shape;285;p12"/>
          <p:cNvSpPr/>
          <p:nvPr/>
        </p:nvSpPr>
        <p:spPr>
          <a:xfrm>
            <a:off x="4663440" y="2066544"/>
            <a:ext cx="36576" cy="29260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773168" y="2039112"/>
            <a:ext cx="39959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Based on Shapley values from game theory - mathematically fair attribution</a:t>
            </a:r>
            <a:endParaRPr sz="1100">
              <a:solidFill>
                <a:schemeClr val="dk1"/>
              </a:solidFill>
              <a:latin typeface="Calibri"/>
              <a:ea typeface="Calibri"/>
              <a:cs typeface="Calibri"/>
              <a:sym typeface="Calibri"/>
            </a:endParaRPr>
          </a:p>
        </p:txBody>
      </p:sp>
      <p:sp>
        <p:nvSpPr>
          <p:cNvPr id="287" name="Google Shape;287;p12"/>
          <p:cNvSpPr/>
          <p:nvPr/>
        </p:nvSpPr>
        <p:spPr>
          <a:xfrm>
            <a:off x="4663440" y="2459736"/>
            <a:ext cx="36576" cy="29260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4773168" y="2432304"/>
            <a:ext cx="39959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Uses TreeExplainer - runs at inference time, no extra model needed</a:t>
            </a:r>
            <a:endParaRPr sz="1100">
              <a:solidFill>
                <a:schemeClr val="dk1"/>
              </a:solidFill>
              <a:latin typeface="Calibri"/>
              <a:ea typeface="Calibri"/>
              <a:cs typeface="Calibri"/>
              <a:sym typeface="Calibri"/>
            </a:endParaRPr>
          </a:p>
        </p:txBody>
      </p:sp>
      <p:sp>
        <p:nvSpPr>
          <p:cNvPr id="289" name="Google Shape;289;p12"/>
          <p:cNvSpPr/>
          <p:nvPr/>
        </p:nvSpPr>
        <p:spPr>
          <a:xfrm>
            <a:off x="4480560" y="3063240"/>
            <a:ext cx="4434900" cy="1874400"/>
          </a:xfrm>
          <a:prstGeom prst="rect">
            <a:avLst/>
          </a:prstGeom>
          <a:solidFill>
            <a:srgbClr val="11224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4663440" y="3200400"/>
            <a:ext cx="4160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lang="en-US" sz="1000">
                <a:solidFill>
                  <a:srgbClr val="02C39A"/>
                </a:solidFill>
                <a:latin typeface="Calibri"/>
                <a:ea typeface="Calibri"/>
                <a:cs typeface="Calibri"/>
                <a:sym typeface="Calibri"/>
              </a:rPr>
              <a:t>WHY THIS MATTERS CLINICALLY</a:t>
            </a:r>
            <a:endParaRPr sz="1000">
              <a:solidFill>
                <a:schemeClr val="dk1"/>
              </a:solidFill>
              <a:latin typeface="Calibri"/>
              <a:ea typeface="Calibri"/>
              <a:cs typeface="Calibri"/>
              <a:sym typeface="Calibri"/>
            </a:endParaRPr>
          </a:p>
        </p:txBody>
      </p:sp>
      <p:sp>
        <p:nvSpPr>
          <p:cNvPr id="291" name="Google Shape;291;p12"/>
          <p:cNvSpPr/>
          <p:nvPr/>
        </p:nvSpPr>
        <p:spPr>
          <a:xfrm>
            <a:off x="4663440" y="3525017"/>
            <a:ext cx="36600" cy="292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4773168" y="3483860"/>
            <a:ext cx="399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Clinician can see exactly which vitals triggered a HIGH alert</a:t>
            </a:r>
            <a:endParaRPr sz="1100">
              <a:solidFill>
                <a:schemeClr val="dk1"/>
              </a:solidFill>
              <a:latin typeface="Calibri"/>
              <a:ea typeface="Calibri"/>
              <a:cs typeface="Calibri"/>
              <a:sym typeface="Calibri"/>
            </a:endParaRPr>
          </a:p>
        </p:txBody>
      </p:sp>
      <p:sp>
        <p:nvSpPr>
          <p:cNvPr id="293" name="Google Shape;293;p12"/>
          <p:cNvSpPr/>
          <p:nvPr/>
        </p:nvSpPr>
        <p:spPr>
          <a:xfrm>
            <a:off x="4663440" y="3934216"/>
            <a:ext cx="36600" cy="292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773130" y="3877046"/>
            <a:ext cx="399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ICULOS + Lactate + Temp are the top 3 - all SOFA (Sequential Organ Failure Assessment)  score components</a:t>
            </a:r>
            <a:endParaRPr sz="1100">
              <a:solidFill>
                <a:schemeClr val="dk1"/>
              </a:solidFill>
              <a:latin typeface="Calibri"/>
              <a:ea typeface="Calibri"/>
              <a:cs typeface="Calibri"/>
              <a:sym typeface="Calibri"/>
            </a:endParaRPr>
          </a:p>
        </p:txBody>
      </p:sp>
      <p:sp>
        <p:nvSpPr>
          <p:cNvPr id="295" name="Google Shape;295;p12"/>
          <p:cNvSpPr/>
          <p:nvPr/>
        </p:nvSpPr>
        <p:spPr>
          <a:xfrm>
            <a:off x="4663440" y="4343415"/>
            <a:ext cx="36600" cy="292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4773168" y="4306833"/>
            <a:ext cx="399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Makes the system auditable and trustworthy, not a black box</a:t>
            </a:r>
            <a:endParaRPr sz="1100">
              <a:solidFill>
                <a:schemeClr val="dk1"/>
              </a:solidFill>
              <a:latin typeface="Calibri"/>
              <a:ea typeface="Calibri"/>
              <a:cs typeface="Calibri"/>
              <a:sym typeface="Calibri"/>
            </a:endParaRPr>
          </a:p>
        </p:txBody>
      </p:sp>
      <p:sp>
        <p:nvSpPr>
          <p:cNvPr id="297" name="Google Shape;297;p12"/>
          <p:cNvSpPr/>
          <p:nvPr/>
        </p:nvSpPr>
        <p:spPr>
          <a:xfrm>
            <a:off x="228600" y="4736592"/>
            <a:ext cx="8686800" cy="320040"/>
          </a:xfrm>
          <a:prstGeom prst="rect">
            <a:avLst/>
          </a:prstGeom>
          <a:solidFill>
            <a:srgbClr val="0A2A1A"/>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228600" y="4736592"/>
            <a:ext cx="73152" cy="32004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384048" y="4736592"/>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i="1" lang="en-US" sz="1100">
                <a:solidFill>
                  <a:srgbClr val="02C39A"/>
                </a:solidFill>
                <a:latin typeface="Calibri"/>
                <a:ea typeface="Calibri"/>
                <a:cs typeface="Calibri"/>
                <a:sym typeface="Calibri"/>
              </a:rPr>
              <a:t>Key insight: SHAP is computed per patient, per prediction - so two patients with the same risk score may be flagged for completely different reasons</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4" name="Shape 304"/>
        <p:cNvGrpSpPr/>
        <p:nvPr/>
      </p:nvGrpSpPr>
      <p:grpSpPr>
        <a:xfrm>
          <a:off x="0" y="0"/>
          <a:ext cx="0" cy="0"/>
          <a:chOff x="0" y="0"/>
          <a:chExt cx="0" cy="0"/>
        </a:xfrm>
      </p:grpSpPr>
      <p:sp>
        <p:nvSpPr>
          <p:cNvPr id="305" name="Google Shape;305;p13"/>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Retrieval Augmented Generation (RAG)</a:t>
            </a:r>
            <a:endParaRPr sz="2200">
              <a:solidFill>
                <a:schemeClr val="dk1"/>
              </a:solidFill>
              <a:latin typeface="Calibri"/>
              <a:ea typeface="Calibri"/>
              <a:cs typeface="Calibri"/>
              <a:sym typeface="Calibri"/>
            </a:endParaRPr>
          </a:p>
        </p:txBody>
      </p:sp>
      <p:sp>
        <p:nvSpPr>
          <p:cNvPr id="308" name="Google Shape;308;p13"/>
          <p:cNvSpPr/>
          <p:nvPr/>
        </p:nvSpPr>
        <p:spPr>
          <a:xfrm>
            <a:off x="320040" y="841248"/>
            <a:ext cx="1572768" cy="100584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320040" y="841248"/>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Knowledge</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Base</a:t>
            </a:r>
            <a:endParaRPr sz="1200">
              <a:solidFill>
                <a:schemeClr val="dk1"/>
              </a:solidFill>
              <a:latin typeface="Calibri"/>
              <a:ea typeface="Calibri"/>
              <a:cs typeface="Calibri"/>
              <a:sym typeface="Calibri"/>
            </a:endParaRPr>
          </a:p>
        </p:txBody>
      </p:sp>
      <p:sp>
        <p:nvSpPr>
          <p:cNvPr id="310" name="Google Shape;310;p13"/>
          <p:cNvSpPr/>
          <p:nvPr/>
        </p:nvSpPr>
        <p:spPr>
          <a:xfrm>
            <a:off x="320040" y="1298448"/>
            <a:ext cx="1572768"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SSC 2021, 2023 ED,</a:t>
            </a:r>
            <a:endParaRPr sz="950">
              <a:solidFill>
                <a:schemeClr val="dk1"/>
              </a:solidFill>
              <a:latin typeface="Calibri"/>
              <a:ea typeface="Calibri"/>
              <a:cs typeface="Calibri"/>
              <a:sym typeface="Calibri"/>
            </a:endParaRPr>
          </a:p>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AAFP 2022 → 47 chunks</a:t>
            </a:r>
            <a:endParaRPr sz="950">
              <a:solidFill>
                <a:schemeClr val="dk1"/>
              </a:solidFill>
              <a:latin typeface="Calibri"/>
              <a:ea typeface="Calibri"/>
              <a:cs typeface="Calibri"/>
              <a:sym typeface="Calibri"/>
            </a:endParaRPr>
          </a:p>
        </p:txBody>
      </p:sp>
      <p:cxnSp>
        <p:nvCxnSpPr>
          <p:cNvPr id="311" name="Google Shape;311;p13"/>
          <p:cNvCxnSpPr/>
          <p:nvPr/>
        </p:nvCxnSpPr>
        <p:spPr>
          <a:xfrm>
            <a:off x="1892808" y="1344168"/>
            <a:ext cx="146304" cy="0"/>
          </a:xfrm>
          <a:prstGeom prst="straightConnector1">
            <a:avLst/>
          </a:prstGeom>
          <a:noFill/>
          <a:ln cap="flat" cmpd="sng" w="31750">
            <a:solidFill>
              <a:srgbClr val="02C39A"/>
            </a:solidFill>
            <a:prstDash val="solid"/>
            <a:round/>
            <a:headEnd len="sm" w="sm" type="none"/>
            <a:tailEnd len="med" w="med" type="stealth"/>
          </a:ln>
        </p:spPr>
      </p:cxnSp>
      <p:sp>
        <p:nvSpPr>
          <p:cNvPr id="312" name="Google Shape;312;p13"/>
          <p:cNvSpPr/>
          <p:nvPr/>
        </p:nvSpPr>
        <p:spPr>
          <a:xfrm>
            <a:off x="2039112" y="841248"/>
            <a:ext cx="1572768" cy="100584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2039112" y="841248"/>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Chunk &amp;</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Embed</a:t>
            </a:r>
            <a:endParaRPr sz="1200">
              <a:solidFill>
                <a:schemeClr val="dk1"/>
              </a:solidFill>
              <a:latin typeface="Calibri"/>
              <a:ea typeface="Calibri"/>
              <a:cs typeface="Calibri"/>
              <a:sym typeface="Calibri"/>
            </a:endParaRPr>
          </a:p>
        </p:txBody>
      </p:sp>
      <p:sp>
        <p:nvSpPr>
          <p:cNvPr id="314" name="Google Shape;314;p13"/>
          <p:cNvSpPr/>
          <p:nvPr/>
        </p:nvSpPr>
        <p:spPr>
          <a:xfrm>
            <a:off x="2039112" y="1298448"/>
            <a:ext cx="1572768"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all-MiniLM-L6-v2</a:t>
            </a:r>
            <a:endParaRPr sz="950">
              <a:solidFill>
                <a:schemeClr val="dk1"/>
              </a:solidFill>
              <a:latin typeface="Calibri"/>
              <a:ea typeface="Calibri"/>
              <a:cs typeface="Calibri"/>
              <a:sym typeface="Calibri"/>
            </a:endParaRPr>
          </a:p>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384-dim vectors</a:t>
            </a:r>
            <a:endParaRPr sz="950">
              <a:solidFill>
                <a:schemeClr val="dk1"/>
              </a:solidFill>
              <a:latin typeface="Calibri"/>
              <a:ea typeface="Calibri"/>
              <a:cs typeface="Calibri"/>
              <a:sym typeface="Calibri"/>
            </a:endParaRPr>
          </a:p>
        </p:txBody>
      </p:sp>
      <p:cxnSp>
        <p:nvCxnSpPr>
          <p:cNvPr id="315" name="Google Shape;315;p13"/>
          <p:cNvCxnSpPr/>
          <p:nvPr/>
        </p:nvCxnSpPr>
        <p:spPr>
          <a:xfrm>
            <a:off x="3611880" y="1344168"/>
            <a:ext cx="146304" cy="0"/>
          </a:xfrm>
          <a:prstGeom prst="straightConnector1">
            <a:avLst/>
          </a:prstGeom>
          <a:noFill/>
          <a:ln cap="flat" cmpd="sng" w="31750">
            <a:solidFill>
              <a:srgbClr val="02C39A"/>
            </a:solidFill>
            <a:prstDash val="solid"/>
            <a:round/>
            <a:headEnd len="sm" w="sm" type="none"/>
            <a:tailEnd len="med" w="med" type="stealth"/>
          </a:ln>
        </p:spPr>
      </p:cxnSp>
      <p:sp>
        <p:nvSpPr>
          <p:cNvPr id="316" name="Google Shape;316;p13"/>
          <p:cNvSpPr/>
          <p:nvPr/>
        </p:nvSpPr>
        <p:spPr>
          <a:xfrm>
            <a:off x="3758184" y="841248"/>
            <a:ext cx="1572768" cy="100584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3758184" y="841248"/>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ChromaDB</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Search</a:t>
            </a:r>
            <a:endParaRPr sz="1200">
              <a:solidFill>
                <a:schemeClr val="dk1"/>
              </a:solidFill>
              <a:latin typeface="Calibri"/>
              <a:ea typeface="Calibri"/>
              <a:cs typeface="Calibri"/>
              <a:sym typeface="Calibri"/>
            </a:endParaRPr>
          </a:p>
        </p:txBody>
      </p:sp>
      <p:sp>
        <p:nvSpPr>
          <p:cNvPr id="318" name="Google Shape;318;p13"/>
          <p:cNvSpPr/>
          <p:nvPr/>
        </p:nvSpPr>
        <p:spPr>
          <a:xfrm>
            <a:off x="3758184" y="1298448"/>
            <a:ext cx="1572768"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Cosine similarity</a:t>
            </a:r>
            <a:endParaRPr sz="950">
              <a:solidFill>
                <a:schemeClr val="dk1"/>
              </a:solidFill>
              <a:latin typeface="Calibri"/>
              <a:ea typeface="Calibri"/>
              <a:cs typeface="Calibri"/>
              <a:sym typeface="Calibri"/>
            </a:endParaRPr>
          </a:p>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Top-5 chunks</a:t>
            </a:r>
            <a:endParaRPr sz="950">
              <a:solidFill>
                <a:schemeClr val="dk1"/>
              </a:solidFill>
              <a:latin typeface="Calibri"/>
              <a:ea typeface="Calibri"/>
              <a:cs typeface="Calibri"/>
              <a:sym typeface="Calibri"/>
            </a:endParaRPr>
          </a:p>
        </p:txBody>
      </p:sp>
      <p:cxnSp>
        <p:nvCxnSpPr>
          <p:cNvPr id="319" name="Google Shape;319;p13"/>
          <p:cNvCxnSpPr/>
          <p:nvPr/>
        </p:nvCxnSpPr>
        <p:spPr>
          <a:xfrm>
            <a:off x="5330952" y="1344168"/>
            <a:ext cx="146304" cy="0"/>
          </a:xfrm>
          <a:prstGeom prst="straightConnector1">
            <a:avLst/>
          </a:prstGeom>
          <a:noFill/>
          <a:ln cap="flat" cmpd="sng" w="31750">
            <a:solidFill>
              <a:srgbClr val="02C39A"/>
            </a:solidFill>
            <a:prstDash val="solid"/>
            <a:round/>
            <a:headEnd len="sm" w="sm" type="none"/>
            <a:tailEnd len="med" w="med" type="stealth"/>
          </a:ln>
        </p:spPr>
      </p:cxnSp>
      <p:sp>
        <p:nvSpPr>
          <p:cNvPr id="320" name="Google Shape;320;p13"/>
          <p:cNvSpPr/>
          <p:nvPr/>
        </p:nvSpPr>
        <p:spPr>
          <a:xfrm>
            <a:off x="5477256" y="841248"/>
            <a:ext cx="1572768" cy="100584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5477256" y="841248"/>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Gemini 2.5</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Flash</a:t>
            </a:r>
            <a:endParaRPr sz="1200">
              <a:solidFill>
                <a:schemeClr val="dk1"/>
              </a:solidFill>
              <a:latin typeface="Calibri"/>
              <a:ea typeface="Calibri"/>
              <a:cs typeface="Calibri"/>
              <a:sym typeface="Calibri"/>
            </a:endParaRPr>
          </a:p>
        </p:txBody>
      </p:sp>
      <p:sp>
        <p:nvSpPr>
          <p:cNvPr id="322" name="Google Shape;322;p13"/>
          <p:cNvSpPr/>
          <p:nvPr/>
        </p:nvSpPr>
        <p:spPr>
          <a:xfrm>
            <a:off x="5477256" y="1298448"/>
            <a:ext cx="1572768"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Constrained prompt</a:t>
            </a:r>
            <a:endParaRPr sz="950">
              <a:solidFill>
                <a:schemeClr val="dk1"/>
              </a:solidFill>
              <a:latin typeface="Calibri"/>
              <a:ea typeface="Calibri"/>
              <a:cs typeface="Calibri"/>
              <a:sym typeface="Calibri"/>
            </a:endParaRPr>
          </a:p>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No hallucination</a:t>
            </a:r>
            <a:endParaRPr sz="950">
              <a:solidFill>
                <a:schemeClr val="dk1"/>
              </a:solidFill>
              <a:latin typeface="Calibri"/>
              <a:ea typeface="Calibri"/>
              <a:cs typeface="Calibri"/>
              <a:sym typeface="Calibri"/>
            </a:endParaRPr>
          </a:p>
        </p:txBody>
      </p:sp>
      <p:cxnSp>
        <p:nvCxnSpPr>
          <p:cNvPr id="323" name="Google Shape;323;p13"/>
          <p:cNvCxnSpPr/>
          <p:nvPr/>
        </p:nvCxnSpPr>
        <p:spPr>
          <a:xfrm>
            <a:off x="7050024" y="1344168"/>
            <a:ext cx="146304" cy="0"/>
          </a:xfrm>
          <a:prstGeom prst="straightConnector1">
            <a:avLst/>
          </a:prstGeom>
          <a:noFill/>
          <a:ln cap="flat" cmpd="sng" w="31750">
            <a:solidFill>
              <a:srgbClr val="02C39A"/>
            </a:solidFill>
            <a:prstDash val="solid"/>
            <a:round/>
            <a:headEnd len="sm" w="sm" type="none"/>
            <a:tailEnd len="med" w="med" type="stealth"/>
          </a:ln>
        </p:spPr>
      </p:cxnSp>
      <p:sp>
        <p:nvSpPr>
          <p:cNvPr id="324" name="Google Shape;324;p13"/>
          <p:cNvSpPr/>
          <p:nvPr/>
        </p:nvSpPr>
        <p:spPr>
          <a:xfrm>
            <a:off x="7196328" y="841248"/>
            <a:ext cx="1572768" cy="100584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
          <p:cNvSpPr/>
          <p:nvPr/>
        </p:nvSpPr>
        <p:spPr>
          <a:xfrm>
            <a:off x="7196328" y="841248"/>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Clinical</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200"/>
              <a:buFont typeface="Calibri"/>
              <a:buNone/>
            </a:pPr>
            <a:r>
              <a:rPr b="1" lang="en-US" sz="1200">
                <a:solidFill>
                  <a:srgbClr val="02C39A"/>
                </a:solidFill>
                <a:latin typeface="Calibri"/>
                <a:ea typeface="Calibri"/>
                <a:cs typeface="Calibri"/>
                <a:sym typeface="Calibri"/>
              </a:rPr>
              <a:t>Output</a:t>
            </a:r>
            <a:endParaRPr sz="1200">
              <a:solidFill>
                <a:schemeClr val="dk1"/>
              </a:solidFill>
              <a:latin typeface="Calibri"/>
              <a:ea typeface="Calibri"/>
              <a:cs typeface="Calibri"/>
              <a:sym typeface="Calibri"/>
            </a:endParaRPr>
          </a:p>
        </p:txBody>
      </p:sp>
      <p:sp>
        <p:nvSpPr>
          <p:cNvPr id="326" name="Google Shape;326;p13"/>
          <p:cNvSpPr/>
          <p:nvPr/>
        </p:nvSpPr>
        <p:spPr>
          <a:xfrm>
            <a:off x="7196328" y="1298448"/>
            <a:ext cx="1572768"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Patient-specific</a:t>
            </a:r>
            <a:endParaRPr sz="950">
              <a:solidFill>
                <a:schemeClr val="dk1"/>
              </a:solidFill>
              <a:latin typeface="Calibri"/>
              <a:ea typeface="Calibri"/>
              <a:cs typeface="Calibri"/>
              <a:sym typeface="Calibri"/>
            </a:endParaRPr>
          </a:p>
          <a:p>
            <a:pPr indent="0" lvl="0" marL="0" marR="0" rtl="0" algn="ctr">
              <a:spcBef>
                <a:spcPts val="0"/>
              </a:spcBef>
              <a:spcAft>
                <a:spcPts val="0"/>
              </a:spcAft>
              <a:buClr>
                <a:srgbClr val="E8EFF5"/>
              </a:buClr>
              <a:buSzPts val="950"/>
              <a:buFont typeface="Calibri"/>
              <a:buNone/>
            </a:pPr>
            <a:r>
              <a:rPr lang="en-US" sz="950">
                <a:solidFill>
                  <a:srgbClr val="E8EFF5"/>
                </a:solidFill>
                <a:latin typeface="Calibri"/>
                <a:ea typeface="Calibri"/>
                <a:cs typeface="Calibri"/>
                <a:sym typeface="Calibri"/>
              </a:rPr>
              <a:t>recommendations</a:t>
            </a:r>
            <a:endParaRPr sz="950">
              <a:solidFill>
                <a:schemeClr val="dk1"/>
              </a:solidFill>
              <a:latin typeface="Calibri"/>
              <a:ea typeface="Calibri"/>
              <a:cs typeface="Calibri"/>
              <a:sym typeface="Calibri"/>
            </a:endParaRPr>
          </a:p>
        </p:txBody>
      </p:sp>
      <p:sp>
        <p:nvSpPr>
          <p:cNvPr id="327" name="Google Shape;327;p13"/>
          <p:cNvSpPr/>
          <p:nvPr/>
        </p:nvSpPr>
        <p:spPr>
          <a:xfrm>
            <a:off x="365760" y="2029968"/>
            <a:ext cx="8412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Knowledge base:</a:t>
            </a:r>
            <a:r>
              <a:rPr lang="en-US" sz="1300">
                <a:solidFill>
                  <a:srgbClr val="0A2342"/>
                </a:solidFill>
                <a:latin typeface="Calibri"/>
                <a:ea typeface="Calibri"/>
                <a:cs typeface="Calibri"/>
                <a:sym typeface="Calibri"/>
              </a:rPr>
              <a:t>  SSC 2021 · 2023 ED Update · AAFP 2022 → 47 semantically coherent chunks</a:t>
            </a:r>
            <a:endParaRPr sz="1300">
              <a:solidFill>
                <a:schemeClr val="dk1"/>
              </a:solidFill>
              <a:latin typeface="Calibri"/>
              <a:ea typeface="Calibri"/>
              <a:cs typeface="Calibri"/>
              <a:sym typeface="Calibri"/>
            </a:endParaRPr>
          </a:p>
        </p:txBody>
      </p:sp>
      <p:sp>
        <p:nvSpPr>
          <p:cNvPr id="328" name="Google Shape;328;p13"/>
          <p:cNvSpPr/>
          <p:nvPr/>
        </p:nvSpPr>
        <p:spPr>
          <a:xfrm>
            <a:off x="365760" y="2459736"/>
            <a:ext cx="8412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Chunking:</a:t>
            </a:r>
            <a:r>
              <a:rPr lang="en-US" sz="1300">
                <a:solidFill>
                  <a:srgbClr val="0A2342"/>
                </a:solidFill>
                <a:latin typeface="Calibri"/>
                <a:ea typeface="Calibri"/>
                <a:cs typeface="Calibri"/>
                <a:sym typeface="Calibri"/>
              </a:rPr>
              <a:t>  Header-aware strategy preserving clinical topic boundaries</a:t>
            </a:r>
            <a:endParaRPr sz="1300">
              <a:solidFill>
                <a:schemeClr val="dk1"/>
              </a:solidFill>
              <a:latin typeface="Calibri"/>
              <a:ea typeface="Calibri"/>
              <a:cs typeface="Calibri"/>
              <a:sym typeface="Calibri"/>
            </a:endParaRPr>
          </a:p>
        </p:txBody>
      </p:sp>
      <p:sp>
        <p:nvSpPr>
          <p:cNvPr id="329" name="Google Shape;329;p13"/>
          <p:cNvSpPr/>
          <p:nvPr/>
        </p:nvSpPr>
        <p:spPr>
          <a:xfrm>
            <a:off x="365760" y="2889504"/>
            <a:ext cx="8412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Embeddings:</a:t>
            </a:r>
            <a:r>
              <a:rPr lang="en-US" sz="1300">
                <a:solidFill>
                  <a:srgbClr val="0A2342"/>
                </a:solidFill>
                <a:latin typeface="Calibri"/>
                <a:ea typeface="Calibri"/>
                <a:cs typeface="Calibri"/>
                <a:sym typeface="Calibri"/>
              </a:rPr>
              <a:t>  all-MiniLM-L6-v2  → ChromaDB cosine similarity search</a:t>
            </a:r>
            <a:endParaRPr sz="1300">
              <a:solidFill>
                <a:schemeClr val="dk1"/>
              </a:solidFill>
              <a:latin typeface="Calibri"/>
              <a:ea typeface="Calibri"/>
              <a:cs typeface="Calibri"/>
              <a:sym typeface="Calibri"/>
            </a:endParaRPr>
          </a:p>
        </p:txBody>
      </p:sp>
      <p:sp>
        <p:nvSpPr>
          <p:cNvPr id="330" name="Google Shape;330;p13"/>
          <p:cNvSpPr/>
          <p:nvPr/>
        </p:nvSpPr>
        <p:spPr>
          <a:xfrm>
            <a:off x="365760" y="3319272"/>
            <a:ext cx="8412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Query construction:</a:t>
            </a:r>
            <a:r>
              <a:rPr lang="en-US" sz="1300">
                <a:solidFill>
                  <a:srgbClr val="0A2342"/>
                </a:solidFill>
                <a:latin typeface="Calibri"/>
                <a:ea typeface="Calibri"/>
                <a:cs typeface="Calibri"/>
                <a:sym typeface="Calibri"/>
              </a:rPr>
              <a:t>  Dynamically assembled from abnormal vitals - e.g. "sepsis management tachycardia hypotension elevated lactate"</a:t>
            </a:r>
            <a:endParaRPr sz="1300">
              <a:solidFill>
                <a:schemeClr val="dk1"/>
              </a:solidFill>
              <a:latin typeface="Calibri"/>
              <a:ea typeface="Calibri"/>
              <a:cs typeface="Calibri"/>
              <a:sym typeface="Calibri"/>
            </a:endParaRPr>
          </a:p>
        </p:txBody>
      </p:sp>
      <p:sp>
        <p:nvSpPr>
          <p:cNvPr id="331" name="Google Shape;331;p13"/>
          <p:cNvSpPr/>
          <p:nvPr/>
        </p:nvSpPr>
        <p:spPr>
          <a:xfrm>
            <a:off x="365760" y="3749040"/>
            <a:ext cx="8412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Output:</a:t>
            </a:r>
            <a:r>
              <a:rPr lang="en-US" sz="1300">
                <a:solidFill>
                  <a:srgbClr val="0A2342"/>
                </a:solidFill>
                <a:latin typeface="Calibri"/>
                <a:ea typeface="Calibri"/>
                <a:cs typeface="Calibri"/>
                <a:sym typeface="Calibri"/>
              </a:rPr>
              <a:t>  3-5 prioritised, bullet-point recommendations with physician-review disclaimer</a:t>
            </a:r>
            <a:endParaRPr sz="1300">
              <a:solidFill>
                <a:schemeClr val="dk1"/>
              </a:solidFill>
              <a:latin typeface="Calibri"/>
              <a:ea typeface="Calibri"/>
              <a:cs typeface="Calibri"/>
              <a:sym typeface="Calibri"/>
            </a:endParaRPr>
          </a:p>
        </p:txBody>
      </p:sp>
      <p:sp>
        <p:nvSpPr>
          <p:cNvPr id="332" name="Google Shape;332;p13"/>
          <p:cNvSpPr/>
          <p:nvPr/>
        </p:nvSpPr>
        <p:spPr>
          <a:xfrm>
            <a:off x="315462" y="4464100"/>
            <a:ext cx="845820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315453" y="4464102"/>
            <a:ext cx="73200"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98332" y="446410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Constrained prompt: LLM can ONLY cite retrieved guideline chunks - prevents hallucination of medical advice</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39" name="Shape 339"/>
        <p:cNvGrpSpPr/>
        <p:nvPr/>
      </p:nvGrpSpPr>
      <p:grpSpPr>
        <a:xfrm>
          <a:off x="0" y="0"/>
          <a:ext cx="0" cy="0"/>
          <a:chOff x="0" y="0"/>
          <a:chExt cx="0" cy="0"/>
        </a:xfrm>
      </p:grpSpPr>
      <p:sp>
        <p:nvSpPr>
          <p:cNvPr id="340" name="Google Shape;340;p14"/>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Clinical Scenario Evaluation</a:t>
            </a:r>
            <a:endParaRPr sz="2200">
              <a:solidFill>
                <a:schemeClr val="dk1"/>
              </a:solidFill>
              <a:latin typeface="Calibri"/>
              <a:ea typeface="Calibri"/>
              <a:cs typeface="Calibri"/>
              <a:sym typeface="Calibri"/>
            </a:endParaRPr>
          </a:p>
        </p:txBody>
      </p:sp>
      <p:sp>
        <p:nvSpPr>
          <p:cNvPr id="343" name="Google Shape;343;p14"/>
          <p:cNvSpPr/>
          <p:nvPr/>
        </p:nvSpPr>
        <p:spPr>
          <a:xfrm>
            <a:off x="320040" y="868680"/>
            <a:ext cx="4160520" cy="1097280"/>
          </a:xfrm>
          <a:prstGeom prst="rect">
            <a:avLst/>
          </a:prstGeom>
          <a:solidFill>
            <a:srgbClr val="FFFFFF"/>
          </a:solidFill>
          <a:ln cap="flat" cmpd="sng" w="1905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320040" y="868680"/>
            <a:ext cx="73152" cy="109728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457200" y="91440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46" name="Google Shape;346;p14"/>
          <p:cNvSpPr/>
          <p:nvPr/>
        </p:nvSpPr>
        <p:spPr>
          <a:xfrm>
            <a:off x="3703320" y="941832"/>
            <a:ext cx="685800" cy="256032"/>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p:nvPr/>
        </p:nvSpPr>
        <p:spPr>
          <a:xfrm>
            <a:off x="3703320" y="94183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LOW</a:t>
            </a:r>
            <a:endParaRPr sz="900">
              <a:solidFill>
                <a:schemeClr val="dk1"/>
              </a:solidFill>
              <a:latin typeface="Calibri"/>
              <a:ea typeface="Calibri"/>
              <a:cs typeface="Calibri"/>
              <a:sym typeface="Calibri"/>
            </a:endParaRPr>
          </a:p>
        </p:txBody>
      </p:sp>
      <p:sp>
        <p:nvSpPr>
          <p:cNvPr id="348" name="Google Shape;348;p14"/>
          <p:cNvSpPr/>
          <p:nvPr/>
        </p:nvSpPr>
        <p:spPr>
          <a:xfrm>
            <a:off x="886968" y="9601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Healthy adult, normal vitals</a:t>
            </a:r>
            <a:endParaRPr sz="1200">
              <a:solidFill>
                <a:schemeClr val="dk1"/>
              </a:solidFill>
              <a:latin typeface="Calibri"/>
              <a:ea typeface="Calibri"/>
              <a:cs typeface="Calibri"/>
              <a:sym typeface="Calibri"/>
            </a:endParaRPr>
          </a:p>
        </p:txBody>
      </p:sp>
      <p:sp>
        <p:nvSpPr>
          <p:cNvPr id="349" name="Google Shape;349;p14"/>
          <p:cNvSpPr/>
          <p:nvPr/>
        </p:nvSpPr>
        <p:spPr>
          <a:xfrm>
            <a:off x="484632" y="150876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Correctly classified</a:t>
            </a:r>
            <a:endParaRPr sz="1100">
              <a:solidFill>
                <a:schemeClr val="dk1"/>
              </a:solidFill>
              <a:latin typeface="Calibri"/>
              <a:ea typeface="Calibri"/>
              <a:cs typeface="Calibri"/>
              <a:sym typeface="Calibri"/>
            </a:endParaRPr>
          </a:p>
        </p:txBody>
      </p:sp>
      <p:sp>
        <p:nvSpPr>
          <p:cNvPr id="350" name="Google Shape;350;p14"/>
          <p:cNvSpPr/>
          <p:nvPr/>
        </p:nvSpPr>
        <p:spPr>
          <a:xfrm>
            <a:off x="4709160" y="868680"/>
            <a:ext cx="4160520" cy="1097280"/>
          </a:xfrm>
          <a:prstGeom prst="rect">
            <a:avLst/>
          </a:prstGeom>
          <a:solidFill>
            <a:srgbClr val="FFFFFF"/>
          </a:solidFill>
          <a:ln cap="flat" cmpd="sng" w="1905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p:nvPr/>
        </p:nvSpPr>
        <p:spPr>
          <a:xfrm>
            <a:off x="4709160" y="868680"/>
            <a:ext cx="73152" cy="109728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p:nvPr/>
        </p:nvSpPr>
        <p:spPr>
          <a:xfrm>
            <a:off x="4846320" y="91440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53" name="Google Shape;353;p14"/>
          <p:cNvSpPr/>
          <p:nvPr/>
        </p:nvSpPr>
        <p:spPr>
          <a:xfrm>
            <a:off x="8092440" y="941832"/>
            <a:ext cx="685800" cy="256032"/>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4"/>
          <p:cNvSpPr/>
          <p:nvPr/>
        </p:nvSpPr>
        <p:spPr>
          <a:xfrm>
            <a:off x="8092440" y="94183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LOW</a:t>
            </a:r>
            <a:endParaRPr sz="900">
              <a:solidFill>
                <a:schemeClr val="dk1"/>
              </a:solidFill>
              <a:latin typeface="Calibri"/>
              <a:ea typeface="Calibri"/>
              <a:cs typeface="Calibri"/>
              <a:sym typeface="Calibri"/>
            </a:endParaRPr>
          </a:p>
        </p:txBody>
      </p:sp>
      <p:sp>
        <p:nvSpPr>
          <p:cNvPr id="355" name="Google Shape;355;p14"/>
          <p:cNvSpPr/>
          <p:nvPr/>
        </p:nvSpPr>
        <p:spPr>
          <a:xfrm>
            <a:off x="5276088" y="9601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Stable post-surgical patient</a:t>
            </a:r>
            <a:endParaRPr sz="1200">
              <a:solidFill>
                <a:schemeClr val="dk1"/>
              </a:solidFill>
              <a:latin typeface="Calibri"/>
              <a:ea typeface="Calibri"/>
              <a:cs typeface="Calibri"/>
              <a:sym typeface="Calibri"/>
            </a:endParaRPr>
          </a:p>
        </p:txBody>
      </p:sp>
      <p:sp>
        <p:nvSpPr>
          <p:cNvPr id="356" name="Google Shape;356;p14"/>
          <p:cNvSpPr/>
          <p:nvPr/>
        </p:nvSpPr>
        <p:spPr>
          <a:xfrm>
            <a:off x="4873752" y="150876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Correctly classified</a:t>
            </a:r>
            <a:endParaRPr sz="1100">
              <a:solidFill>
                <a:schemeClr val="dk1"/>
              </a:solidFill>
              <a:latin typeface="Calibri"/>
              <a:ea typeface="Calibri"/>
              <a:cs typeface="Calibri"/>
              <a:sym typeface="Calibri"/>
            </a:endParaRPr>
          </a:p>
        </p:txBody>
      </p:sp>
      <p:sp>
        <p:nvSpPr>
          <p:cNvPr id="357" name="Google Shape;357;p14"/>
          <p:cNvSpPr/>
          <p:nvPr/>
        </p:nvSpPr>
        <p:spPr>
          <a:xfrm>
            <a:off x="320040" y="2148840"/>
            <a:ext cx="4160520" cy="1097280"/>
          </a:xfrm>
          <a:prstGeom prst="rect">
            <a:avLst/>
          </a:prstGeom>
          <a:solidFill>
            <a:srgbClr val="FFFFFF"/>
          </a:solidFill>
          <a:ln cap="flat" cmpd="sng" w="1905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4"/>
          <p:cNvSpPr/>
          <p:nvPr/>
        </p:nvSpPr>
        <p:spPr>
          <a:xfrm>
            <a:off x="320040" y="2148840"/>
            <a:ext cx="73152" cy="109728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457200" y="219456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60" name="Google Shape;360;p14"/>
          <p:cNvSpPr/>
          <p:nvPr/>
        </p:nvSpPr>
        <p:spPr>
          <a:xfrm>
            <a:off x="3703320" y="2221992"/>
            <a:ext cx="685800" cy="256032"/>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3703320" y="222199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MODERATE</a:t>
            </a:r>
            <a:endParaRPr sz="900">
              <a:solidFill>
                <a:schemeClr val="dk1"/>
              </a:solidFill>
              <a:latin typeface="Calibri"/>
              <a:ea typeface="Calibri"/>
              <a:cs typeface="Calibri"/>
              <a:sym typeface="Calibri"/>
            </a:endParaRPr>
          </a:p>
        </p:txBody>
      </p:sp>
      <p:sp>
        <p:nvSpPr>
          <p:cNvPr id="362" name="Google Shape;362;p14"/>
          <p:cNvSpPr/>
          <p:nvPr/>
        </p:nvSpPr>
        <p:spPr>
          <a:xfrm>
            <a:off x="886968" y="2240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Early sepsis - tachycardia + fever</a:t>
            </a:r>
            <a:endParaRPr sz="1200">
              <a:solidFill>
                <a:schemeClr val="dk1"/>
              </a:solidFill>
              <a:latin typeface="Calibri"/>
              <a:ea typeface="Calibri"/>
              <a:cs typeface="Calibri"/>
              <a:sym typeface="Calibri"/>
            </a:endParaRPr>
          </a:p>
        </p:txBody>
      </p:sp>
      <p:sp>
        <p:nvSpPr>
          <p:cNvPr id="363" name="Google Shape;363;p14"/>
          <p:cNvSpPr/>
          <p:nvPr/>
        </p:nvSpPr>
        <p:spPr>
          <a:xfrm>
            <a:off x="484632" y="278892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Correctly classified</a:t>
            </a:r>
            <a:endParaRPr sz="1100">
              <a:solidFill>
                <a:schemeClr val="dk1"/>
              </a:solidFill>
              <a:latin typeface="Calibri"/>
              <a:ea typeface="Calibri"/>
              <a:cs typeface="Calibri"/>
              <a:sym typeface="Calibri"/>
            </a:endParaRPr>
          </a:p>
        </p:txBody>
      </p:sp>
      <p:sp>
        <p:nvSpPr>
          <p:cNvPr id="364" name="Google Shape;364;p14"/>
          <p:cNvSpPr/>
          <p:nvPr/>
        </p:nvSpPr>
        <p:spPr>
          <a:xfrm>
            <a:off x="4709160" y="2148840"/>
            <a:ext cx="4160520" cy="1097280"/>
          </a:xfrm>
          <a:prstGeom prst="rect">
            <a:avLst/>
          </a:prstGeom>
          <a:solidFill>
            <a:srgbClr val="FFFDE7"/>
          </a:solidFill>
          <a:ln cap="flat" cmpd="sng" w="19050">
            <a:solidFill>
              <a:srgbClr val="FBC02D"/>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4709160" y="2148840"/>
            <a:ext cx="73152" cy="109728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4846320" y="219456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67" name="Google Shape;367;p14"/>
          <p:cNvSpPr/>
          <p:nvPr/>
        </p:nvSpPr>
        <p:spPr>
          <a:xfrm>
            <a:off x="8092440" y="2221992"/>
            <a:ext cx="685800" cy="256032"/>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8092440" y="222199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MODERATE</a:t>
            </a:r>
            <a:endParaRPr sz="900">
              <a:solidFill>
                <a:schemeClr val="dk1"/>
              </a:solidFill>
              <a:latin typeface="Calibri"/>
              <a:ea typeface="Calibri"/>
              <a:cs typeface="Calibri"/>
              <a:sym typeface="Calibri"/>
            </a:endParaRPr>
          </a:p>
        </p:txBody>
      </p:sp>
      <p:sp>
        <p:nvSpPr>
          <p:cNvPr id="369" name="Google Shape;369;p14"/>
          <p:cNvSpPr/>
          <p:nvPr/>
        </p:nvSpPr>
        <p:spPr>
          <a:xfrm>
            <a:off x="5276088" y="2240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Borderline - mild tachycardia only</a:t>
            </a:r>
            <a:endParaRPr sz="1200">
              <a:solidFill>
                <a:schemeClr val="dk1"/>
              </a:solidFill>
              <a:latin typeface="Calibri"/>
              <a:ea typeface="Calibri"/>
              <a:cs typeface="Calibri"/>
              <a:sym typeface="Calibri"/>
            </a:endParaRPr>
          </a:p>
        </p:txBody>
      </p:sp>
      <p:sp>
        <p:nvSpPr>
          <p:cNvPr id="370" name="Google Shape;370;p14"/>
          <p:cNvSpPr/>
          <p:nvPr/>
        </p:nvSpPr>
        <p:spPr>
          <a:xfrm>
            <a:off x="4873752" y="2715767"/>
            <a:ext cx="3886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00A"/>
              </a:buClr>
              <a:buSzPts val="1100"/>
              <a:buFont typeface="Calibri"/>
              <a:buNone/>
            </a:pPr>
            <a:r>
              <a:rPr i="1" lang="en-US" sz="1100">
                <a:solidFill>
                  <a:srgbClr val="B7900A"/>
                </a:solidFill>
                <a:latin typeface="Calibri"/>
                <a:ea typeface="Calibri"/>
                <a:cs typeface="Calibri"/>
                <a:sym typeface="Calibri"/>
              </a:rPr>
              <a:t>Scored MODERATE at 17.7% - clinically appropriate over-caution</a:t>
            </a:r>
            <a:endParaRPr sz="1100">
              <a:solidFill>
                <a:schemeClr val="dk1"/>
              </a:solidFill>
              <a:latin typeface="Calibri"/>
              <a:ea typeface="Calibri"/>
              <a:cs typeface="Calibri"/>
              <a:sym typeface="Calibri"/>
            </a:endParaRPr>
          </a:p>
        </p:txBody>
      </p:sp>
      <p:sp>
        <p:nvSpPr>
          <p:cNvPr id="371" name="Google Shape;371;p14"/>
          <p:cNvSpPr/>
          <p:nvPr/>
        </p:nvSpPr>
        <p:spPr>
          <a:xfrm>
            <a:off x="320040" y="3429000"/>
            <a:ext cx="4160520" cy="1097280"/>
          </a:xfrm>
          <a:prstGeom prst="rect">
            <a:avLst/>
          </a:prstGeom>
          <a:solidFill>
            <a:srgbClr val="FFFFFF"/>
          </a:solidFill>
          <a:ln cap="flat" cmpd="sng" w="1905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320040" y="3429000"/>
            <a:ext cx="73152" cy="109728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457200" y="347472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74" name="Google Shape;374;p14"/>
          <p:cNvSpPr/>
          <p:nvPr/>
        </p:nvSpPr>
        <p:spPr>
          <a:xfrm>
            <a:off x="3703320" y="3502152"/>
            <a:ext cx="685800" cy="25603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3703320" y="350215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HIGH</a:t>
            </a:r>
            <a:endParaRPr sz="900">
              <a:solidFill>
                <a:schemeClr val="dk1"/>
              </a:solidFill>
              <a:latin typeface="Calibri"/>
              <a:ea typeface="Calibri"/>
              <a:cs typeface="Calibri"/>
              <a:sym typeface="Calibri"/>
            </a:endParaRPr>
          </a:p>
        </p:txBody>
      </p:sp>
      <p:sp>
        <p:nvSpPr>
          <p:cNvPr id="376" name="Google Shape;376;p14"/>
          <p:cNvSpPr/>
          <p:nvPr/>
        </p:nvSpPr>
        <p:spPr>
          <a:xfrm>
            <a:off x="886968" y="35204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Septic shock - high lactate + hypotension</a:t>
            </a:r>
            <a:endParaRPr sz="1200">
              <a:solidFill>
                <a:schemeClr val="dk1"/>
              </a:solidFill>
              <a:latin typeface="Calibri"/>
              <a:ea typeface="Calibri"/>
              <a:cs typeface="Calibri"/>
              <a:sym typeface="Calibri"/>
            </a:endParaRPr>
          </a:p>
        </p:txBody>
      </p:sp>
      <p:sp>
        <p:nvSpPr>
          <p:cNvPr id="377" name="Google Shape;377;p14"/>
          <p:cNvSpPr/>
          <p:nvPr/>
        </p:nvSpPr>
        <p:spPr>
          <a:xfrm>
            <a:off x="484632" y="406908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Correctly classified</a:t>
            </a:r>
            <a:endParaRPr sz="1100">
              <a:solidFill>
                <a:schemeClr val="dk1"/>
              </a:solidFill>
              <a:latin typeface="Calibri"/>
              <a:ea typeface="Calibri"/>
              <a:cs typeface="Calibri"/>
              <a:sym typeface="Calibri"/>
            </a:endParaRPr>
          </a:p>
        </p:txBody>
      </p:sp>
      <p:sp>
        <p:nvSpPr>
          <p:cNvPr id="378" name="Google Shape;378;p14"/>
          <p:cNvSpPr/>
          <p:nvPr/>
        </p:nvSpPr>
        <p:spPr>
          <a:xfrm>
            <a:off x="4709160" y="3429000"/>
            <a:ext cx="4160520" cy="1097280"/>
          </a:xfrm>
          <a:prstGeom prst="rect">
            <a:avLst/>
          </a:prstGeom>
          <a:solidFill>
            <a:srgbClr val="FFFFFF"/>
          </a:solidFill>
          <a:ln cap="flat" cmpd="sng" w="1905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4709160" y="3429000"/>
            <a:ext cx="73152" cy="109728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4846320" y="3474720"/>
            <a:ext cx="411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81" name="Google Shape;381;p14"/>
          <p:cNvSpPr/>
          <p:nvPr/>
        </p:nvSpPr>
        <p:spPr>
          <a:xfrm>
            <a:off x="8092440" y="3502152"/>
            <a:ext cx="685800" cy="25603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8092440" y="3502152"/>
            <a:ext cx="685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HIGH</a:t>
            </a:r>
            <a:endParaRPr sz="900">
              <a:solidFill>
                <a:schemeClr val="dk1"/>
              </a:solidFill>
              <a:latin typeface="Calibri"/>
              <a:ea typeface="Calibri"/>
              <a:cs typeface="Calibri"/>
              <a:sym typeface="Calibri"/>
            </a:endParaRPr>
          </a:p>
        </p:txBody>
      </p:sp>
      <p:sp>
        <p:nvSpPr>
          <p:cNvPr id="383" name="Google Shape;383;p14"/>
          <p:cNvSpPr/>
          <p:nvPr/>
        </p:nvSpPr>
        <p:spPr>
          <a:xfrm>
            <a:off x="5276088" y="35204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lang="en-US" sz="1200">
                <a:solidFill>
                  <a:srgbClr val="0A2342"/>
                </a:solidFill>
                <a:latin typeface="Calibri"/>
                <a:ea typeface="Calibri"/>
                <a:cs typeface="Calibri"/>
                <a:sym typeface="Calibri"/>
              </a:rPr>
              <a:t>Atypical hypothermic sepsis</a:t>
            </a:r>
            <a:endParaRPr sz="1200">
              <a:solidFill>
                <a:schemeClr val="dk1"/>
              </a:solidFill>
              <a:latin typeface="Calibri"/>
              <a:ea typeface="Calibri"/>
              <a:cs typeface="Calibri"/>
              <a:sym typeface="Calibri"/>
            </a:endParaRPr>
          </a:p>
        </p:txBody>
      </p:sp>
      <p:sp>
        <p:nvSpPr>
          <p:cNvPr id="384" name="Google Shape;384;p14"/>
          <p:cNvSpPr/>
          <p:nvPr/>
        </p:nvSpPr>
        <p:spPr>
          <a:xfrm>
            <a:off x="4873752" y="4069080"/>
            <a:ext cx="3886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100"/>
              <a:buFont typeface="Calibri"/>
              <a:buNone/>
            </a:pPr>
            <a:r>
              <a:rPr lang="en-US" sz="1100">
                <a:solidFill>
                  <a:srgbClr val="1A7A4A"/>
                </a:solidFill>
                <a:latin typeface="Calibri"/>
                <a:ea typeface="Calibri"/>
                <a:cs typeface="Calibri"/>
                <a:sym typeface="Calibri"/>
              </a:rPr>
              <a:t>Correctly classified</a:t>
            </a:r>
            <a:endParaRPr sz="1100">
              <a:solidFill>
                <a:schemeClr val="dk1"/>
              </a:solidFill>
              <a:latin typeface="Calibri"/>
              <a:ea typeface="Calibri"/>
              <a:cs typeface="Calibri"/>
              <a:sym typeface="Calibri"/>
            </a:endParaRPr>
          </a:p>
        </p:txBody>
      </p:sp>
      <p:sp>
        <p:nvSpPr>
          <p:cNvPr id="385" name="Google Shape;385;p14"/>
          <p:cNvSpPr/>
          <p:nvPr/>
        </p:nvSpPr>
        <p:spPr>
          <a:xfrm>
            <a:off x="320040" y="4645152"/>
            <a:ext cx="8503920" cy="457200"/>
          </a:xfrm>
          <a:prstGeom prst="rect">
            <a:avLst/>
          </a:prstGeom>
          <a:solidFill>
            <a:srgbClr val="028090">
              <a:alpha val="12156"/>
            </a:srgbClr>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320040" y="4645152"/>
            <a:ext cx="73152" cy="4572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502920" y="464515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i="1" lang="en-US" sz="1200">
                <a:solidFill>
                  <a:srgbClr val="028090"/>
                </a:solidFill>
                <a:latin typeface="Calibri"/>
                <a:ea typeface="Calibri"/>
                <a:cs typeface="Calibri"/>
                <a:sym typeface="Calibri"/>
              </a:rPr>
              <a:t>5 of 6 scenarios correctly classified. The one miss is an error toward over-caution - clinically appropriate in ICU settings.</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392" name="Shape 392"/>
        <p:cNvGrpSpPr/>
        <p:nvPr/>
      </p:nvGrpSpPr>
      <p:grpSpPr>
        <a:xfrm>
          <a:off x="0" y="0"/>
          <a:ext cx="0" cy="0"/>
          <a:chOff x="0" y="0"/>
          <a:chExt cx="0" cy="0"/>
        </a:xfrm>
      </p:grpSpPr>
      <p:sp>
        <p:nvSpPr>
          <p:cNvPr id="393" name="Google Shape;393;p15"/>
          <p:cNvSpPr/>
          <p:nvPr/>
        </p:nvSpPr>
        <p:spPr>
          <a:xfrm>
            <a:off x="457200" y="182880"/>
            <a:ext cx="5486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3200"/>
              <a:buFont typeface="Calibri"/>
              <a:buNone/>
            </a:pPr>
            <a:r>
              <a:rPr b="1" lang="en-US" sz="3200">
                <a:solidFill>
                  <a:srgbClr val="02C39A"/>
                </a:solidFill>
                <a:latin typeface="Calibri"/>
                <a:ea typeface="Calibri"/>
                <a:cs typeface="Calibri"/>
                <a:sym typeface="Calibri"/>
              </a:rPr>
              <a:t>Live Demo</a:t>
            </a:r>
            <a:endParaRPr sz="3200">
              <a:solidFill>
                <a:schemeClr val="dk1"/>
              </a:solidFill>
              <a:latin typeface="Calibri"/>
              <a:ea typeface="Calibri"/>
              <a:cs typeface="Calibri"/>
              <a:sym typeface="Calibri"/>
            </a:endParaRPr>
          </a:p>
        </p:txBody>
      </p:sp>
      <p:sp>
        <p:nvSpPr>
          <p:cNvPr id="394" name="Google Shape;394;p15"/>
          <p:cNvSpPr/>
          <p:nvPr/>
        </p:nvSpPr>
        <p:spPr>
          <a:xfrm>
            <a:off x="340663" y="1139310"/>
            <a:ext cx="8503800" cy="1024200"/>
          </a:xfrm>
          <a:prstGeom prst="rect">
            <a:avLst/>
          </a:prstGeom>
          <a:solidFill>
            <a:srgbClr val="0D3D5C"/>
          </a:solidFill>
          <a:ln cap="flat" cmpd="sng" w="19050">
            <a:solidFill>
              <a:srgbClr val="1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5"/>
          <p:cNvSpPr/>
          <p:nvPr/>
        </p:nvSpPr>
        <p:spPr>
          <a:xfrm>
            <a:off x="299515" y="1157598"/>
            <a:ext cx="91500" cy="102420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
          <p:cNvSpPr/>
          <p:nvPr/>
        </p:nvSpPr>
        <p:spPr>
          <a:xfrm>
            <a:off x="500683" y="123075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300"/>
              <a:buFont typeface="Calibri"/>
              <a:buNone/>
            </a:pPr>
            <a:r>
              <a:rPr b="1" lang="en-US" sz="1300">
                <a:solidFill>
                  <a:srgbClr val="1A7A4A"/>
                </a:solidFill>
                <a:latin typeface="Calibri"/>
                <a:ea typeface="Calibri"/>
                <a:cs typeface="Calibri"/>
                <a:sym typeface="Calibri"/>
              </a:rPr>
              <a:t>1  Normal patient</a:t>
            </a:r>
            <a:endParaRPr sz="1300">
              <a:solidFill>
                <a:schemeClr val="dk1"/>
              </a:solidFill>
              <a:latin typeface="Calibri"/>
              <a:ea typeface="Calibri"/>
              <a:cs typeface="Calibri"/>
              <a:sym typeface="Calibri"/>
            </a:endParaRPr>
          </a:p>
        </p:txBody>
      </p:sp>
      <p:sp>
        <p:nvSpPr>
          <p:cNvPr id="397" name="Google Shape;397;p15"/>
          <p:cNvSpPr/>
          <p:nvPr/>
        </p:nvSpPr>
        <p:spPr>
          <a:xfrm>
            <a:off x="500683" y="1523358"/>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E8EFF5"/>
                </a:solidFill>
                <a:latin typeface="Calibri"/>
                <a:ea typeface="Calibri"/>
                <a:cs typeface="Calibri"/>
                <a:sym typeface="Calibri"/>
              </a:rPr>
              <a:t>Vitals:</a:t>
            </a:r>
            <a:r>
              <a:rPr lang="en-US"/>
              <a:t> </a:t>
            </a:r>
            <a:r>
              <a:rPr lang="en-US" sz="1100">
                <a:solidFill>
                  <a:srgbClr val="E8EFF5"/>
                </a:solidFill>
                <a:latin typeface="Calibri"/>
                <a:ea typeface="Calibri"/>
                <a:cs typeface="Calibri"/>
                <a:sym typeface="Calibri"/>
              </a:rPr>
              <a:t>HR 85 · SpO2 97 · Temp 37.0 · MAP 75 · Resp 16 · Lactate 1.0 · WBC 8 · Creatinine 1.0 · ICULOS 24 · Age 55 · SBP 120 · DBP 70</a:t>
            </a:r>
            <a:endParaRPr sz="1100">
              <a:solidFill>
                <a:srgbClr val="E8EFF5"/>
              </a:solidFill>
              <a:latin typeface="Calibri"/>
              <a:ea typeface="Calibri"/>
              <a:cs typeface="Calibri"/>
              <a:sym typeface="Calibri"/>
            </a:endParaRPr>
          </a:p>
        </p:txBody>
      </p:sp>
      <p:sp>
        <p:nvSpPr>
          <p:cNvPr id="398" name="Google Shape;398;p15"/>
          <p:cNvSpPr/>
          <p:nvPr/>
        </p:nvSpPr>
        <p:spPr>
          <a:xfrm>
            <a:off x="500683" y="1824629"/>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i="1" lang="en-US" sz="1100">
                <a:solidFill>
                  <a:srgbClr val="02C39A"/>
                </a:solidFill>
                <a:latin typeface="Calibri"/>
                <a:ea typeface="Calibri"/>
                <a:cs typeface="Calibri"/>
                <a:sym typeface="Calibri"/>
              </a:rPr>
              <a:t>Expect: LOW risk · no flags · general monitoring</a:t>
            </a:r>
            <a:endParaRPr sz="1100">
              <a:solidFill>
                <a:schemeClr val="dk1"/>
              </a:solidFill>
              <a:latin typeface="Calibri"/>
              <a:ea typeface="Calibri"/>
              <a:cs typeface="Calibri"/>
              <a:sym typeface="Calibri"/>
            </a:endParaRPr>
          </a:p>
        </p:txBody>
      </p:sp>
      <p:sp>
        <p:nvSpPr>
          <p:cNvPr id="399" name="Google Shape;399;p15"/>
          <p:cNvSpPr/>
          <p:nvPr/>
        </p:nvSpPr>
        <p:spPr>
          <a:xfrm>
            <a:off x="299515" y="2364606"/>
            <a:ext cx="8503800" cy="1024200"/>
          </a:xfrm>
          <a:prstGeom prst="rect">
            <a:avLst/>
          </a:prstGeom>
          <a:solidFill>
            <a:srgbClr val="0D3D5C"/>
          </a:solidFill>
          <a:ln cap="flat" cmpd="sng" w="1905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5"/>
          <p:cNvSpPr/>
          <p:nvPr/>
        </p:nvSpPr>
        <p:spPr>
          <a:xfrm>
            <a:off x="299515" y="2364606"/>
            <a:ext cx="91500" cy="10242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500683" y="243775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300"/>
              <a:buFont typeface="Calibri"/>
              <a:buNone/>
            </a:pPr>
            <a:r>
              <a:rPr b="1" lang="en-US" sz="1300">
                <a:solidFill>
                  <a:srgbClr val="C0392B"/>
                </a:solidFill>
                <a:latin typeface="Calibri"/>
                <a:ea typeface="Calibri"/>
                <a:cs typeface="Calibri"/>
                <a:sym typeface="Calibri"/>
              </a:rPr>
              <a:t>2  Septic shock</a:t>
            </a:r>
            <a:endParaRPr sz="1300">
              <a:solidFill>
                <a:schemeClr val="dk1"/>
              </a:solidFill>
              <a:latin typeface="Calibri"/>
              <a:ea typeface="Calibri"/>
              <a:cs typeface="Calibri"/>
              <a:sym typeface="Calibri"/>
            </a:endParaRPr>
          </a:p>
        </p:txBody>
      </p:sp>
      <p:sp>
        <p:nvSpPr>
          <p:cNvPr id="402" name="Google Shape;402;p15"/>
          <p:cNvSpPr/>
          <p:nvPr/>
        </p:nvSpPr>
        <p:spPr>
          <a:xfrm>
            <a:off x="500683" y="2730366"/>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E8EFF5"/>
                </a:solidFill>
                <a:latin typeface="Calibri"/>
                <a:ea typeface="Calibri"/>
                <a:cs typeface="Calibri"/>
                <a:sym typeface="Calibri"/>
              </a:rPr>
              <a:t>Vitals: HR 130 · SpO2 86 · Temp 39.5 · MAP 50 · Resp 32 · Lactate 5.0 · WBC 22 · Creatinine 3.0 · ICULOS 72 · Age 72 · SBP 80 · DBP 40 </a:t>
            </a:r>
            <a:endParaRPr/>
          </a:p>
        </p:txBody>
      </p:sp>
      <p:sp>
        <p:nvSpPr>
          <p:cNvPr id="403" name="Google Shape;403;p15"/>
          <p:cNvSpPr/>
          <p:nvPr/>
        </p:nvSpPr>
        <p:spPr>
          <a:xfrm>
            <a:off x="500683" y="3004686"/>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i="1" lang="en-US" sz="1100">
                <a:solidFill>
                  <a:srgbClr val="02C39A"/>
                </a:solidFill>
                <a:latin typeface="Calibri"/>
                <a:ea typeface="Calibri"/>
                <a:cs typeface="Calibri"/>
                <a:sym typeface="Calibri"/>
              </a:rPr>
              <a:t>Expect: HIGH risk · SHAP shows ICULOS + Lactate + Temp · SSC Hour-1 Bundle</a:t>
            </a:r>
            <a:endParaRPr sz="1100">
              <a:solidFill>
                <a:schemeClr val="dk1"/>
              </a:solidFill>
              <a:latin typeface="Calibri"/>
              <a:ea typeface="Calibri"/>
              <a:cs typeface="Calibri"/>
              <a:sym typeface="Calibri"/>
            </a:endParaRPr>
          </a:p>
        </p:txBody>
      </p:sp>
      <p:sp>
        <p:nvSpPr>
          <p:cNvPr id="404" name="Google Shape;404;p15"/>
          <p:cNvSpPr/>
          <p:nvPr/>
        </p:nvSpPr>
        <p:spPr>
          <a:xfrm>
            <a:off x="340663" y="3571614"/>
            <a:ext cx="8503800" cy="1248300"/>
          </a:xfrm>
          <a:prstGeom prst="rect">
            <a:avLst/>
          </a:prstGeom>
          <a:solidFill>
            <a:srgbClr val="0D3D5C"/>
          </a:solidFill>
          <a:ln cap="flat" cmpd="sng" w="19050">
            <a:solidFill>
              <a:srgbClr val="E67E2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5"/>
          <p:cNvSpPr/>
          <p:nvPr/>
        </p:nvSpPr>
        <p:spPr>
          <a:xfrm>
            <a:off x="299515" y="3571614"/>
            <a:ext cx="45600" cy="1248300"/>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500683" y="3644766"/>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300"/>
              <a:buFont typeface="Calibri"/>
              <a:buNone/>
            </a:pPr>
            <a:r>
              <a:rPr b="1" lang="en-US" sz="1300">
                <a:solidFill>
                  <a:srgbClr val="E67E22"/>
                </a:solidFill>
                <a:latin typeface="Calibri"/>
                <a:ea typeface="Calibri"/>
                <a:cs typeface="Calibri"/>
                <a:sym typeface="Calibri"/>
              </a:rPr>
              <a:t>3  Borderline</a:t>
            </a:r>
            <a:endParaRPr sz="1300">
              <a:solidFill>
                <a:schemeClr val="dk1"/>
              </a:solidFill>
              <a:latin typeface="Calibri"/>
              <a:ea typeface="Calibri"/>
              <a:cs typeface="Calibri"/>
              <a:sym typeface="Calibri"/>
            </a:endParaRPr>
          </a:p>
        </p:txBody>
      </p:sp>
      <p:sp>
        <p:nvSpPr>
          <p:cNvPr id="407" name="Google Shape;407;p15"/>
          <p:cNvSpPr/>
          <p:nvPr/>
        </p:nvSpPr>
        <p:spPr>
          <a:xfrm>
            <a:off x="523543" y="3599527"/>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a:p>
            <a:pPr indent="0" lvl="0" marL="0" marR="0" rtl="0" algn="l">
              <a:spcBef>
                <a:spcPts val="0"/>
              </a:spcBef>
              <a:spcAft>
                <a:spcPts val="0"/>
              </a:spcAft>
              <a:buNone/>
            </a:pPr>
            <a:r>
              <a:rPr lang="en-US" sz="1100">
                <a:solidFill>
                  <a:srgbClr val="E8EFF5"/>
                </a:solidFill>
                <a:latin typeface="Calibri"/>
                <a:ea typeface="Calibri"/>
                <a:cs typeface="Calibri"/>
                <a:sym typeface="Calibri"/>
              </a:rPr>
              <a:t>Vitals: HR 100 · SpO2 94 · Temp 38.5 · MAP 68 · Resp 24 · Lactate 2.50 · WBC 14 · Creatinine 1.50 · ICULOS 48 · Age 65 · SBP 100 · DBP 55 </a:t>
            </a:r>
            <a:endParaRPr/>
          </a:p>
          <a:p>
            <a:pPr indent="0" lvl="0" marL="0" marR="0" rtl="0" algn="l">
              <a:spcBef>
                <a:spcPts val="0"/>
              </a:spcBef>
              <a:spcAft>
                <a:spcPts val="0"/>
              </a:spcAft>
              <a:buNone/>
            </a:pPr>
            <a:r>
              <a:t/>
            </a:r>
            <a:endParaRPr sz="1100">
              <a:solidFill>
                <a:srgbClr val="E8EFF5"/>
              </a:solidFill>
              <a:latin typeface="Calibri"/>
              <a:ea typeface="Calibri"/>
              <a:cs typeface="Calibri"/>
              <a:sym typeface="Calibri"/>
            </a:endParaRPr>
          </a:p>
        </p:txBody>
      </p:sp>
      <p:sp>
        <p:nvSpPr>
          <p:cNvPr id="408" name="Google Shape;408;p15"/>
          <p:cNvSpPr/>
          <p:nvPr/>
        </p:nvSpPr>
        <p:spPr>
          <a:xfrm>
            <a:off x="523543" y="4431150"/>
            <a:ext cx="8184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i="1" lang="en-US" sz="1100">
                <a:solidFill>
                  <a:srgbClr val="02C39A"/>
                </a:solidFill>
                <a:latin typeface="Calibri"/>
                <a:ea typeface="Calibri"/>
                <a:cs typeface="Calibri"/>
                <a:sym typeface="Calibri"/>
              </a:rPr>
              <a:t>Expect: MODERATE risk · flags tachycardia &amp; tachypnea · cautious recommendations</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13" name="Shape 413"/>
        <p:cNvGrpSpPr/>
        <p:nvPr/>
      </p:nvGrpSpPr>
      <p:grpSpPr>
        <a:xfrm>
          <a:off x="0" y="0"/>
          <a:ext cx="0" cy="0"/>
          <a:chOff x="0" y="0"/>
          <a:chExt cx="0" cy="0"/>
        </a:xfrm>
      </p:grpSpPr>
      <p:sp>
        <p:nvSpPr>
          <p:cNvPr id="414" name="Google Shape;414;p16"/>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Key Findings &amp; Contributions</a:t>
            </a:r>
            <a:endParaRPr sz="2200">
              <a:solidFill>
                <a:schemeClr val="dk1"/>
              </a:solidFill>
              <a:latin typeface="Calibri"/>
              <a:ea typeface="Calibri"/>
              <a:cs typeface="Calibri"/>
              <a:sym typeface="Calibri"/>
            </a:endParaRPr>
          </a:p>
        </p:txBody>
      </p:sp>
      <p:sp>
        <p:nvSpPr>
          <p:cNvPr id="417" name="Google Shape;417;p16"/>
          <p:cNvSpPr/>
          <p:nvPr/>
        </p:nvSpPr>
        <p:spPr>
          <a:xfrm>
            <a:off x="320040" y="868680"/>
            <a:ext cx="8503920" cy="65836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320040" y="868680"/>
            <a:ext cx="502920" cy="658368"/>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320040" y="868680"/>
            <a:ext cx="5029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000"/>
              <a:buFont typeface="Calibri"/>
              <a:buNone/>
            </a:pPr>
            <a:r>
              <a:rPr b="1" lang="en-US" sz="2000">
                <a:solidFill>
                  <a:srgbClr val="02C39A"/>
                </a:solidFill>
                <a:latin typeface="Calibri"/>
                <a:ea typeface="Calibri"/>
                <a:cs typeface="Calibri"/>
                <a:sym typeface="Calibri"/>
              </a:rPr>
              <a:t>1</a:t>
            </a:r>
            <a:endParaRPr sz="2000">
              <a:solidFill>
                <a:schemeClr val="dk1"/>
              </a:solidFill>
              <a:latin typeface="Calibri"/>
              <a:ea typeface="Calibri"/>
              <a:cs typeface="Calibri"/>
              <a:sym typeface="Calibri"/>
            </a:endParaRPr>
          </a:p>
        </p:txBody>
      </p:sp>
      <p:sp>
        <p:nvSpPr>
          <p:cNvPr id="420" name="Google Shape;420;p16"/>
          <p:cNvSpPr/>
          <p:nvPr/>
        </p:nvSpPr>
        <p:spPr>
          <a:xfrm>
            <a:off x="932688" y="914400"/>
            <a:ext cx="7772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lang="en-US" sz="1300">
                <a:solidFill>
                  <a:srgbClr val="0A2342"/>
                </a:solidFill>
                <a:latin typeface="Calibri"/>
                <a:ea typeface="Calibri"/>
                <a:cs typeface="Calibri"/>
                <a:sym typeface="Calibri"/>
              </a:rPr>
              <a:t>XGBoost with 30 features achieves AUROC 0.81 - exceeds the 0.75 clinical utility threshold set by PhysioNet Challenge</a:t>
            </a:r>
            <a:endParaRPr sz="1300">
              <a:solidFill>
                <a:schemeClr val="dk1"/>
              </a:solidFill>
              <a:latin typeface="Calibri"/>
              <a:ea typeface="Calibri"/>
              <a:cs typeface="Calibri"/>
              <a:sym typeface="Calibri"/>
            </a:endParaRPr>
          </a:p>
        </p:txBody>
      </p:sp>
      <p:sp>
        <p:nvSpPr>
          <p:cNvPr id="421" name="Google Shape;421;p16"/>
          <p:cNvSpPr/>
          <p:nvPr/>
        </p:nvSpPr>
        <p:spPr>
          <a:xfrm>
            <a:off x="320040" y="1673352"/>
            <a:ext cx="8503920" cy="65836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320040" y="1673352"/>
            <a:ext cx="502920" cy="658368"/>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320040" y="1673352"/>
            <a:ext cx="5029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4DCC"/>
              </a:buClr>
              <a:buSzPts val="2000"/>
              <a:buFont typeface="Calibri"/>
              <a:buNone/>
            </a:pPr>
            <a:r>
              <a:rPr b="1" lang="en-US" sz="2000">
                <a:solidFill>
                  <a:srgbClr val="9C4DCC"/>
                </a:solidFill>
                <a:latin typeface="Calibri"/>
                <a:ea typeface="Calibri"/>
                <a:cs typeface="Calibri"/>
                <a:sym typeface="Calibri"/>
              </a:rPr>
              <a:t>2</a:t>
            </a:r>
            <a:endParaRPr sz="2000">
              <a:solidFill>
                <a:schemeClr val="dk1"/>
              </a:solidFill>
              <a:latin typeface="Calibri"/>
              <a:ea typeface="Calibri"/>
              <a:cs typeface="Calibri"/>
              <a:sym typeface="Calibri"/>
            </a:endParaRPr>
          </a:p>
        </p:txBody>
      </p:sp>
      <p:sp>
        <p:nvSpPr>
          <p:cNvPr id="424" name="Google Shape;424;p16"/>
          <p:cNvSpPr/>
          <p:nvPr/>
        </p:nvSpPr>
        <p:spPr>
          <a:xfrm>
            <a:off x="932688" y="1719072"/>
            <a:ext cx="777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lang="en-US" sz="1300">
                <a:solidFill>
                  <a:srgbClr val="0A2342"/>
                </a:solidFill>
                <a:latin typeface="Calibri"/>
                <a:ea typeface="Calibri"/>
                <a:cs typeface="Calibri"/>
                <a:sym typeface="Calibri"/>
              </a:rPr>
              <a:t>Temporal features (deltas + rolling means) significantly improve prediction</a:t>
            </a:r>
            <a:endParaRPr sz="1300">
              <a:solidFill>
                <a:srgbClr val="0A2342"/>
              </a:solidFill>
              <a:latin typeface="Calibri"/>
              <a:ea typeface="Calibri"/>
              <a:cs typeface="Calibri"/>
              <a:sym typeface="Calibri"/>
            </a:endParaRPr>
          </a:p>
        </p:txBody>
      </p:sp>
      <p:sp>
        <p:nvSpPr>
          <p:cNvPr id="425" name="Google Shape;425;p16"/>
          <p:cNvSpPr/>
          <p:nvPr/>
        </p:nvSpPr>
        <p:spPr>
          <a:xfrm>
            <a:off x="320040" y="2478024"/>
            <a:ext cx="8503920" cy="65836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320040" y="2478024"/>
            <a:ext cx="502920" cy="658368"/>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320040" y="2478024"/>
            <a:ext cx="5029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060"/>
              </a:buClr>
              <a:buSzPts val="2000"/>
              <a:buFont typeface="Calibri"/>
              <a:buNone/>
            </a:pPr>
            <a:r>
              <a:rPr b="1" lang="en-US" sz="2000">
                <a:solidFill>
                  <a:srgbClr val="E07060"/>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428" name="Google Shape;428;p16"/>
          <p:cNvSpPr/>
          <p:nvPr/>
        </p:nvSpPr>
        <p:spPr>
          <a:xfrm>
            <a:off x="932688" y="2523744"/>
            <a:ext cx="7772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lang="en-US" sz="1300">
                <a:solidFill>
                  <a:srgbClr val="0A2342"/>
                </a:solidFill>
                <a:latin typeface="Calibri"/>
                <a:ea typeface="Calibri"/>
                <a:cs typeface="Calibri"/>
                <a:sym typeface="Calibri"/>
              </a:rPr>
              <a:t>Dropping ultra-sparse features (&gt;80% missing) improved performance by reducing noise - quality over quantity in feature selection</a:t>
            </a:r>
            <a:endParaRPr sz="1300">
              <a:solidFill>
                <a:schemeClr val="dk1"/>
              </a:solidFill>
              <a:latin typeface="Calibri"/>
              <a:ea typeface="Calibri"/>
              <a:cs typeface="Calibri"/>
              <a:sym typeface="Calibri"/>
            </a:endParaRPr>
          </a:p>
        </p:txBody>
      </p:sp>
      <p:sp>
        <p:nvSpPr>
          <p:cNvPr id="429" name="Google Shape;429;p16"/>
          <p:cNvSpPr/>
          <p:nvPr/>
        </p:nvSpPr>
        <p:spPr>
          <a:xfrm>
            <a:off x="320040" y="3282696"/>
            <a:ext cx="8503920" cy="65836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320040" y="3282696"/>
            <a:ext cx="502920" cy="658368"/>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320040" y="3282696"/>
            <a:ext cx="5029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2000"/>
              <a:buFont typeface="Calibri"/>
              <a:buNone/>
            </a:pPr>
            <a:r>
              <a:rPr b="1" lang="en-US" sz="2000">
                <a:solidFill>
                  <a:srgbClr val="028090"/>
                </a:solidFill>
                <a:latin typeface="Calibri"/>
                <a:ea typeface="Calibri"/>
                <a:cs typeface="Calibri"/>
                <a:sym typeface="Calibri"/>
              </a:rPr>
              <a:t>4</a:t>
            </a:r>
            <a:endParaRPr sz="2000">
              <a:solidFill>
                <a:schemeClr val="dk1"/>
              </a:solidFill>
              <a:latin typeface="Calibri"/>
              <a:ea typeface="Calibri"/>
              <a:cs typeface="Calibri"/>
              <a:sym typeface="Calibri"/>
            </a:endParaRPr>
          </a:p>
        </p:txBody>
      </p:sp>
      <p:sp>
        <p:nvSpPr>
          <p:cNvPr id="432" name="Google Shape;432;p16"/>
          <p:cNvSpPr/>
          <p:nvPr/>
        </p:nvSpPr>
        <p:spPr>
          <a:xfrm>
            <a:off x="932688" y="3328416"/>
            <a:ext cx="7772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lang="en-US" sz="1300">
                <a:solidFill>
                  <a:srgbClr val="0A2342"/>
                </a:solidFill>
                <a:latin typeface="Calibri"/>
                <a:ea typeface="Calibri"/>
                <a:cs typeface="Calibri"/>
                <a:sym typeface="Calibri"/>
              </a:rPr>
              <a:t>RAG pipeline grounds all recommendations in published clinical evidence: SSC 2021, 2023 ED Update, AAFP 2022 - no hallucination</a:t>
            </a:r>
            <a:endParaRPr sz="1300">
              <a:solidFill>
                <a:schemeClr val="dk1"/>
              </a:solidFill>
              <a:latin typeface="Calibri"/>
              <a:ea typeface="Calibri"/>
              <a:cs typeface="Calibri"/>
              <a:sym typeface="Calibri"/>
            </a:endParaRPr>
          </a:p>
        </p:txBody>
      </p:sp>
      <p:sp>
        <p:nvSpPr>
          <p:cNvPr id="433" name="Google Shape;433;p16"/>
          <p:cNvSpPr/>
          <p:nvPr/>
        </p:nvSpPr>
        <p:spPr>
          <a:xfrm>
            <a:off x="320040" y="4087368"/>
            <a:ext cx="8503920" cy="658368"/>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320040" y="4087368"/>
            <a:ext cx="502920" cy="658368"/>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320040" y="4087368"/>
            <a:ext cx="5029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A4A"/>
              </a:buClr>
              <a:buSzPts val="2000"/>
              <a:buFont typeface="Calibri"/>
              <a:buNone/>
            </a:pPr>
            <a:r>
              <a:rPr b="1" lang="en-US" sz="2000">
                <a:solidFill>
                  <a:srgbClr val="1A7A4A"/>
                </a:solidFill>
                <a:latin typeface="Calibri"/>
                <a:ea typeface="Calibri"/>
                <a:cs typeface="Calibri"/>
                <a:sym typeface="Calibri"/>
              </a:rPr>
              <a:t>5</a:t>
            </a:r>
            <a:endParaRPr sz="2000">
              <a:solidFill>
                <a:schemeClr val="dk1"/>
              </a:solidFill>
              <a:latin typeface="Calibri"/>
              <a:ea typeface="Calibri"/>
              <a:cs typeface="Calibri"/>
              <a:sym typeface="Calibri"/>
            </a:endParaRPr>
          </a:p>
        </p:txBody>
      </p:sp>
      <p:sp>
        <p:nvSpPr>
          <p:cNvPr id="436" name="Google Shape;436;p16"/>
          <p:cNvSpPr/>
          <p:nvPr/>
        </p:nvSpPr>
        <p:spPr>
          <a:xfrm>
            <a:off x="932688" y="4133088"/>
            <a:ext cx="7772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lang="en-US" sz="1300">
                <a:solidFill>
                  <a:srgbClr val="0A2342"/>
                </a:solidFill>
                <a:latin typeface="Calibri"/>
                <a:ea typeface="Calibri"/>
                <a:cs typeface="Calibri"/>
                <a:sym typeface="Calibri"/>
              </a:rPr>
              <a:t>SHAP provides per-patient explanations that make the system transparent, auditable, and trustworthy for clinical use</a:t>
            </a:r>
            <a:endParaRPr sz="13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41" name="Shape 441"/>
        <p:cNvGrpSpPr/>
        <p:nvPr/>
      </p:nvGrpSpPr>
      <p:grpSpPr>
        <a:xfrm>
          <a:off x="0" y="0"/>
          <a:ext cx="0" cy="0"/>
          <a:chOff x="0" y="0"/>
          <a:chExt cx="0" cy="0"/>
        </a:xfrm>
      </p:grpSpPr>
      <p:sp>
        <p:nvSpPr>
          <p:cNvPr id="442" name="Google Shape;442;p17"/>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445" name="Google Shape;445;p17"/>
          <p:cNvSpPr/>
          <p:nvPr/>
        </p:nvSpPr>
        <p:spPr>
          <a:xfrm>
            <a:off x="320040" y="822960"/>
            <a:ext cx="4160520" cy="372618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320040" y="822960"/>
            <a:ext cx="4160520" cy="40233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475488" y="822960"/>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Current Limitations</a:t>
            </a:r>
            <a:endParaRPr sz="1300">
              <a:solidFill>
                <a:schemeClr val="dk1"/>
              </a:solidFill>
              <a:latin typeface="Calibri"/>
              <a:ea typeface="Calibri"/>
              <a:cs typeface="Calibri"/>
              <a:sym typeface="Calibri"/>
            </a:endParaRPr>
          </a:p>
        </p:txBody>
      </p:sp>
      <p:sp>
        <p:nvSpPr>
          <p:cNvPr id="448" name="Google Shape;448;p17"/>
          <p:cNvSpPr/>
          <p:nvPr/>
        </p:nvSpPr>
        <p:spPr>
          <a:xfrm>
            <a:off x="479988" y="1115561"/>
            <a:ext cx="3840600" cy="3141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Trained on PhysioNet only - real deployment needs validation on other hospital data</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Dashboard uses single time-point input - temporal features default to zero without live EHR (Electronic Health Records) feed</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PR-AUC 0.10 due to extreme class imbalance a known challenge in clinical sepsis prediction</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All LLM outputs require physician review before any clinical action</a:t>
            </a:r>
            <a:endParaRPr sz="1250">
              <a:solidFill>
                <a:schemeClr val="dk1"/>
              </a:solidFill>
              <a:latin typeface="Calibri"/>
              <a:ea typeface="Calibri"/>
              <a:cs typeface="Calibri"/>
              <a:sym typeface="Calibri"/>
            </a:endParaRPr>
          </a:p>
        </p:txBody>
      </p:sp>
      <p:sp>
        <p:nvSpPr>
          <p:cNvPr id="449" name="Google Shape;449;p17"/>
          <p:cNvSpPr/>
          <p:nvPr/>
        </p:nvSpPr>
        <p:spPr>
          <a:xfrm>
            <a:off x="4709160" y="822960"/>
            <a:ext cx="4160520" cy="3726180"/>
          </a:xfrm>
          <a:prstGeom prst="rect">
            <a:avLst/>
          </a:prstGeom>
          <a:solidFill>
            <a:srgbClr val="FFFFFF"/>
          </a:solidFill>
          <a:ln cap="flat" cmpd="sng" w="12700">
            <a:solidFill>
              <a:srgbClr val="D0DDE8"/>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7"/>
          <p:cNvSpPr/>
          <p:nvPr/>
        </p:nvSpPr>
        <p:spPr>
          <a:xfrm>
            <a:off x="4709160" y="822960"/>
            <a:ext cx="4160520" cy="4023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4864608" y="822960"/>
            <a:ext cx="38404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Future Work</a:t>
            </a:r>
            <a:endParaRPr sz="1300">
              <a:solidFill>
                <a:schemeClr val="dk1"/>
              </a:solidFill>
              <a:latin typeface="Calibri"/>
              <a:ea typeface="Calibri"/>
              <a:cs typeface="Calibri"/>
              <a:sym typeface="Calibri"/>
            </a:endParaRPr>
          </a:p>
        </p:txBody>
      </p:sp>
      <p:sp>
        <p:nvSpPr>
          <p:cNvPr id="452" name="Google Shape;452;p17"/>
          <p:cNvSpPr/>
          <p:nvPr/>
        </p:nvSpPr>
        <p:spPr>
          <a:xfrm>
            <a:off x="4869108" y="1001249"/>
            <a:ext cx="3840600" cy="3141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EHR integration for real-time continuous monitoring from patient bedside</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Expand RAG knowledge base with broader clinical literature</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External validation on datasets from different institutions</a:t>
            </a:r>
            <a:endParaRPr sz="1250">
              <a:solidFill>
                <a:schemeClr val="dk1"/>
              </a:solidFill>
              <a:latin typeface="Calibri"/>
              <a:ea typeface="Calibri"/>
              <a:cs typeface="Calibri"/>
              <a:sym typeface="Calibri"/>
            </a:endParaRPr>
          </a:p>
          <a:p>
            <a:pPr indent="-342900" lvl="0" marL="342900" marR="0" rtl="0" algn="l">
              <a:spcBef>
                <a:spcPts val="800"/>
              </a:spcBef>
              <a:spcAft>
                <a:spcPts val="0"/>
              </a:spcAft>
              <a:buClr>
                <a:srgbClr val="0A2342"/>
              </a:buClr>
              <a:buSzPts val="1250"/>
              <a:buFont typeface="Calibri"/>
              <a:buChar char="•"/>
            </a:pPr>
            <a:r>
              <a:rPr lang="en-US" sz="1250">
                <a:solidFill>
                  <a:srgbClr val="0A2342"/>
                </a:solidFill>
                <a:latin typeface="Calibri"/>
                <a:ea typeface="Calibri"/>
                <a:cs typeface="Calibri"/>
                <a:sym typeface="Calibri"/>
              </a:rPr>
              <a:t>Prospective clinical trial before any deployment consideration</a:t>
            </a:r>
            <a:endParaRPr sz="12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457" name="Shape 457"/>
        <p:cNvGrpSpPr/>
        <p:nvPr/>
      </p:nvGrpSpPr>
      <p:grpSpPr>
        <a:xfrm>
          <a:off x="0" y="0"/>
          <a:ext cx="0" cy="0"/>
          <a:chOff x="0" y="0"/>
          <a:chExt cx="0" cy="0"/>
        </a:xfrm>
      </p:grpSpPr>
      <p:sp>
        <p:nvSpPr>
          <p:cNvPr id="458" name="Google Shape;458;p18"/>
          <p:cNvSpPr/>
          <p:nvPr/>
        </p:nvSpPr>
        <p:spPr>
          <a:xfrm>
            <a:off x="-457200" y="3200400"/>
            <a:ext cx="3657600" cy="3657600"/>
          </a:xfrm>
          <a:prstGeom prst="ellipse">
            <a:avLst/>
          </a:prstGeom>
          <a:solidFill>
            <a:srgbClr val="028090">
              <a:alpha val="14901"/>
            </a:srgbClr>
          </a:solidFill>
          <a:ln cap="flat" cmpd="sng" w="12700">
            <a:solidFill>
              <a:srgbClr val="028090">
                <a:alpha val="1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8"/>
          <p:cNvSpPr/>
          <p:nvPr/>
        </p:nvSpPr>
        <p:spPr>
          <a:xfrm>
            <a:off x="7498080" y="-457200"/>
            <a:ext cx="2743200" cy="2743200"/>
          </a:xfrm>
          <a:prstGeom prst="ellipse">
            <a:avLst/>
          </a:prstGeom>
          <a:solidFill>
            <a:srgbClr val="02C39A">
              <a:alpha val="12156"/>
            </a:srgbClr>
          </a:solidFill>
          <a:ln cap="flat" cmpd="sng" w="12700">
            <a:solidFill>
              <a:srgbClr val="02C39A">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8"/>
          <p:cNvSpPr/>
          <p:nvPr/>
        </p:nvSpPr>
        <p:spPr>
          <a:xfrm>
            <a:off x="457200" y="274320"/>
            <a:ext cx="8229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4000"/>
              <a:buFont typeface="Calibri"/>
              <a:buNone/>
            </a:pPr>
            <a:r>
              <a:rPr b="1" lang="en-US" sz="4000">
                <a:solidFill>
                  <a:srgbClr val="02C39A"/>
                </a:solidFill>
                <a:latin typeface="Calibri"/>
                <a:ea typeface="Calibri"/>
                <a:cs typeface="Calibri"/>
                <a:sym typeface="Calibri"/>
              </a:rPr>
              <a:t>Thank You</a:t>
            </a:r>
            <a:endParaRPr sz="4000">
              <a:solidFill>
                <a:schemeClr val="dk1"/>
              </a:solidFill>
              <a:latin typeface="Calibri"/>
              <a:ea typeface="Calibri"/>
              <a:cs typeface="Calibri"/>
              <a:sym typeface="Calibri"/>
            </a:endParaRPr>
          </a:p>
        </p:txBody>
      </p:sp>
      <p:sp>
        <p:nvSpPr>
          <p:cNvPr id="461" name="Google Shape;461;p18"/>
          <p:cNvSpPr/>
          <p:nvPr/>
        </p:nvSpPr>
        <p:spPr>
          <a:xfrm>
            <a:off x="2286000" y="1170432"/>
            <a:ext cx="45720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457200" y="1417320"/>
            <a:ext cx="8229600" cy="475488"/>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457200" y="1417320"/>
            <a:ext cx="73152" cy="47548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8"/>
          <p:cNvSpPr/>
          <p:nvPr/>
        </p:nvSpPr>
        <p:spPr>
          <a:xfrm>
            <a:off x="640080" y="1435608"/>
            <a:ext cx="7955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Target met:</a:t>
            </a:r>
            <a:r>
              <a:rPr lang="en-US" sz="1300">
                <a:solidFill>
                  <a:srgbClr val="E8EFF5"/>
                </a:solidFill>
                <a:latin typeface="Calibri"/>
                <a:ea typeface="Calibri"/>
                <a:cs typeface="Calibri"/>
                <a:sym typeface="Calibri"/>
              </a:rPr>
              <a:t>  AUROC 0.81 - exceeds 0.75 clinical utility threshold</a:t>
            </a:r>
            <a:endParaRPr sz="1300">
              <a:solidFill>
                <a:schemeClr val="dk1"/>
              </a:solidFill>
              <a:latin typeface="Calibri"/>
              <a:ea typeface="Calibri"/>
              <a:cs typeface="Calibri"/>
              <a:sym typeface="Calibri"/>
            </a:endParaRPr>
          </a:p>
        </p:txBody>
      </p:sp>
      <p:sp>
        <p:nvSpPr>
          <p:cNvPr id="465" name="Google Shape;465;p18"/>
          <p:cNvSpPr/>
          <p:nvPr/>
        </p:nvSpPr>
        <p:spPr>
          <a:xfrm>
            <a:off x="457200" y="1984248"/>
            <a:ext cx="8229600" cy="475488"/>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8"/>
          <p:cNvSpPr/>
          <p:nvPr/>
        </p:nvSpPr>
        <p:spPr>
          <a:xfrm>
            <a:off x="457200" y="1984248"/>
            <a:ext cx="73152" cy="47548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p:nvPr/>
        </p:nvSpPr>
        <p:spPr>
          <a:xfrm>
            <a:off x="640080" y="2002536"/>
            <a:ext cx="7955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Explainable:</a:t>
            </a:r>
            <a:r>
              <a:rPr lang="en-US" sz="1300">
                <a:solidFill>
                  <a:srgbClr val="E8EFF5"/>
                </a:solidFill>
                <a:latin typeface="Calibri"/>
                <a:ea typeface="Calibri"/>
                <a:cs typeface="Calibri"/>
                <a:sym typeface="Calibri"/>
              </a:rPr>
              <a:t>  SHAP makes every prediction interpretable</a:t>
            </a:r>
            <a:endParaRPr sz="1300">
              <a:solidFill>
                <a:schemeClr val="dk1"/>
              </a:solidFill>
              <a:latin typeface="Calibri"/>
              <a:ea typeface="Calibri"/>
              <a:cs typeface="Calibri"/>
              <a:sym typeface="Calibri"/>
            </a:endParaRPr>
          </a:p>
        </p:txBody>
      </p:sp>
      <p:sp>
        <p:nvSpPr>
          <p:cNvPr id="468" name="Google Shape;468;p18"/>
          <p:cNvSpPr/>
          <p:nvPr/>
        </p:nvSpPr>
        <p:spPr>
          <a:xfrm>
            <a:off x="457200" y="2551176"/>
            <a:ext cx="8229600" cy="475488"/>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p:nvPr/>
        </p:nvSpPr>
        <p:spPr>
          <a:xfrm>
            <a:off x="457200" y="2551176"/>
            <a:ext cx="73152" cy="47548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p:nvPr/>
        </p:nvSpPr>
        <p:spPr>
          <a:xfrm>
            <a:off x="640080" y="2569464"/>
            <a:ext cx="7955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Evidence-grounded:</a:t>
            </a:r>
            <a:r>
              <a:rPr lang="en-US" sz="1300">
                <a:solidFill>
                  <a:srgbClr val="E8EFF5"/>
                </a:solidFill>
                <a:latin typeface="Calibri"/>
                <a:ea typeface="Calibri"/>
                <a:cs typeface="Calibri"/>
                <a:sym typeface="Calibri"/>
              </a:rPr>
              <a:t>  RAG cites SSC 2021 guidelines, not hallucinations</a:t>
            </a:r>
            <a:endParaRPr sz="1300">
              <a:solidFill>
                <a:schemeClr val="dk1"/>
              </a:solidFill>
              <a:latin typeface="Calibri"/>
              <a:ea typeface="Calibri"/>
              <a:cs typeface="Calibri"/>
              <a:sym typeface="Calibri"/>
            </a:endParaRPr>
          </a:p>
        </p:txBody>
      </p:sp>
      <p:sp>
        <p:nvSpPr>
          <p:cNvPr id="471" name="Google Shape;471;p18"/>
          <p:cNvSpPr/>
          <p:nvPr/>
        </p:nvSpPr>
        <p:spPr>
          <a:xfrm>
            <a:off x="457200" y="3118104"/>
            <a:ext cx="8229600" cy="475488"/>
          </a:xfrm>
          <a:prstGeom prst="rect">
            <a:avLst/>
          </a:prstGeom>
          <a:solidFill>
            <a:srgbClr val="0D3D5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p:nvPr/>
        </p:nvSpPr>
        <p:spPr>
          <a:xfrm>
            <a:off x="457200" y="3118104"/>
            <a:ext cx="73152" cy="475488"/>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p:nvPr/>
        </p:nvSpPr>
        <p:spPr>
          <a:xfrm>
            <a:off x="640080" y="3136392"/>
            <a:ext cx="7955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End-to-end:</a:t>
            </a:r>
            <a:r>
              <a:rPr lang="en-US" sz="1300">
                <a:solidFill>
                  <a:srgbClr val="E8EFF5"/>
                </a:solidFill>
                <a:latin typeface="Calibri"/>
                <a:ea typeface="Calibri"/>
                <a:cs typeface="Calibri"/>
                <a:sym typeface="Calibri"/>
              </a:rPr>
              <a:t>  Raw PhysioNet files → live Streamlit dashboard</a:t>
            </a:r>
            <a:endParaRPr sz="13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78" name="Shape 478"/>
        <p:cNvGrpSpPr/>
        <p:nvPr/>
      </p:nvGrpSpPr>
      <p:grpSpPr>
        <a:xfrm>
          <a:off x="0" y="0"/>
          <a:ext cx="0" cy="0"/>
          <a:chOff x="0" y="0"/>
          <a:chExt cx="0" cy="0"/>
        </a:xfrm>
      </p:grpSpPr>
      <p:sp>
        <p:nvSpPr>
          <p:cNvPr id="479" name="Google Shape;479;p19"/>
          <p:cNvSpPr/>
          <p:nvPr/>
        </p:nvSpPr>
        <p:spPr>
          <a:xfrm>
            <a:off x="0" y="0"/>
            <a:ext cx="9144000" cy="640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0" y="640080"/>
            <a:ext cx="9144000" cy="54864"/>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365760" y="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References</a:t>
            </a:r>
            <a:endParaRPr sz="2200">
              <a:solidFill>
                <a:schemeClr val="dk1"/>
              </a:solidFill>
              <a:latin typeface="Calibri"/>
              <a:ea typeface="Calibri"/>
              <a:cs typeface="Calibri"/>
              <a:sym typeface="Calibri"/>
            </a:endParaRPr>
          </a:p>
        </p:txBody>
      </p:sp>
      <p:sp>
        <p:nvSpPr>
          <p:cNvPr id="482" name="Google Shape;482;p19"/>
          <p:cNvSpPr/>
          <p:nvPr/>
        </p:nvSpPr>
        <p:spPr>
          <a:xfrm>
            <a:off x="411480" y="841248"/>
            <a:ext cx="8321040" cy="411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1. Reyna, M., et al. (2019). Early Prediction of Sepsis from Clinical Data. Critical Care Medicine, 48(2), 210–217.</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2. Evans, L., et al. (2021). Surviving Sepsis Campaign: International Guidelines. Intensive Care Medicine, 47(11), 1181–1247.</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3. Guarino, M., et al. (2023). 2023 Update on Sepsis Management in the Emergency Department. J Clinical Medicine, 12(9), 3188.</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4. Kumar, A., et al. (2006). Duration of hypotension before initiation of effective antimicrobial therapy. Critical Care Medicine, 34(6), 1589–1596.</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5. Chen, T., &amp; Guestrin, C. (2016). XGBoost: A Scalable Tree Boosting System. KDD 2016.</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6. Lundberg, S., &amp; Lee, S. (2017). A Unified Approach to Interpreting Model Predictions. NeurIPS 2017.</a:t>
            </a:r>
            <a:endParaRPr sz="1200">
              <a:solidFill>
                <a:schemeClr val="dk1"/>
              </a:solidFill>
              <a:latin typeface="Calibri"/>
              <a:ea typeface="Calibri"/>
              <a:cs typeface="Calibri"/>
              <a:sym typeface="Calibri"/>
            </a:endParaRPr>
          </a:p>
          <a:p>
            <a:pPr indent="0" lvl="0" marL="0" marR="0" rtl="0" algn="l">
              <a:spcBef>
                <a:spcPts val="1200"/>
              </a:spcBef>
              <a:spcAft>
                <a:spcPts val="0"/>
              </a:spcAft>
              <a:buClr>
                <a:srgbClr val="0A2342"/>
              </a:buClr>
              <a:buSzPts val="1200"/>
              <a:buFont typeface="Calibri"/>
              <a:buNone/>
            </a:pPr>
            <a:r>
              <a:rPr lang="en-US" sz="1200">
                <a:solidFill>
                  <a:srgbClr val="0A2342"/>
                </a:solidFill>
                <a:latin typeface="Calibri"/>
                <a:ea typeface="Calibri"/>
                <a:cs typeface="Calibri"/>
                <a:sym typeface="Calibri"/>
              </a:rPr>
              <a:t>7. CDC. (2021). Sepsis: Data and Reports. https://www.cdc.gov/sepsis</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